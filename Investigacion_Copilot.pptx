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3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6636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Alessa-gg/TareaAplicada1/upload/ma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1F3B"/>
          </a:solidFill>
          <a:ln/>
        </p:spPr>
        <p:txBody>
          <a:bodyPr/>
          <a:lstStyle/>
          <a:p>
            <a:endParaRPr lang="es-SV" u="sng"/>
          </a:p>
        </p:txBody>
      </p:sp>
      <p:sp>
        <p:nvSpPr>
          <p:cNvPr id="3" name="Shape 1"/>
          <p:cNvSpPr/>
          <p:nvPr/>
        </p:nvSpPr>
        <p:spPr>
          <a:xfrm>
            <a:off x="9418320" y="-1645920"/>
            <a:ext cx="5029200" cy="5029200"/>
          </a:xfrm>
          <a:prstGeom prst="ellipse">
            <a:avLst/>
          </a:prstGeom>
          <a:solidFill>
            <a:srgbClr val="3AAFA9">
              <a:alpha val="18000"/>
            </a:srgbClr>
          </a:solidFill>
          <a:ln/>
        </p:spPr>
        <p:txBody>
          <a:bodyPr/>
          <a:lstStyle/>
          <a:p>
            <a:endParaRPr lang="es-SV"/>
          </a:p>
        </p:txBody>
      </p:sp>
      <p:sp>
        <p:nvSpPr>
          <p:cNvPr id="4" name="Shape 2"/>
          <p:cNvSpPr/>
          <p:nvPr/>
        </p:nvSpPr>
        <p:spPr>
          <a:xfrm>
            <a:off x="-1371600" y="4572000"/>
            <a:ext cx="3657600" cy="3657600"/>
          </a:xfrm>
          <a:prstGeom prst="ellipse">
            <a:avLst/>
          </a:prstGeom>
          <a:solidFill>
            <a:srgbClr val="FFC857">
              <a:alpha val="12000"/>
            </a:srgbClr>
          </a:solidFill>
          <a:ln/>
        </p:spPr>
        <p:txBody>
          <a:bodyPr/>
          <a:lstStyle/>
          <a:p>
            <a:endParaRPr lang="es-SV"/>
          </a:p>
        </p:txBody>
      </p:sp>
      <p:sp>
        <p:nvSpPr>
          <p:cNvPr id="5" name="Text 3"/>
          <p:cNvSpPr/>
          <p:nvPr/>
        </p:nvSpPr>
        <p:spPr>
          <a:xfrm>
            <a:off x="822960" y="1371600"/>
            <a:ext cx="9144000" cy="457200"/>
          </a:xfrm>
          <a:prstGeom prst="rect">
            <a:avLst/>
          </a:prstGeom>
          <a:noFill/>
          <a:ln/>
        </p:spPr>
        <p:txBody>
          <a:bodyPr wrap="square" rtlCol="0" anchor="ctr"/>
          <a:lstStyle/>
          <a:p>
            <a:pPr marL="0" indent="0">
              <a:buNone/>
            </a:pPr>
            <a:r>
              <a:rPr lang="en-US" sz="1400" b="1" kern="0" spc="300" dirty="0">
                <a:solidFill>
                  <a:srgbClr val="3AAFA9"/>
                </a:solidFill>
                <a:latin typeface="Calibri" pitchFamily="34" charset="0"/>
                <a:ea typeface="Calibri" pitchFamily="34" charset="-122"/>
                <a:cs typeface="Calibri" pitchFamily="34" charset="-120"/>
              </a:rPr>
              <a:t>INVESTIGACIÓN APLICADA 1</a:t>
            </a:r>
            <a:endParaRPr lang="en-US" sz="1400" dirty="0"/>
          </a:p>
        </p:txBody>
      </p:sp>
      <p:sp>
        <p:nvSpPr>
          <p:cNvPr id="6" name="Text 4"/>
          <p:cNvSpPr/>
          <p:nvPr/>
        </p:nvSpPr>
        <p:spPr>
          <a:xfrm>
            <a:off x="822960" y="1828800"/>
            <a:ext cx="9601200" cy="1828800"/>
          </a:xfrm>
          <a:prstGeom prst="rect">
            <a:avLst/>
          </a:prstGeom>
          <a:noFill/>
          <a:ln/>
        </p:spPr>
        <p:txBody>
          <a:bodyPr wrap="square" rtlCol="0" anchor="ctr"/>
          <a:lstStyle/>
          <a:p>
            <a:pPr marL="0" indent="0">
              <a:lnSpc>
                <a:spcPts val="4400"/>
              </a:lnSpc>
              <a:buNone/>
            </a:pPr>
            <a:r>
              <a:rPr lang="en-US" sz="4000" b="1" dirty="0">
                <a:solidFill>
                  <a:srgbClr val="FFFFFF"/>
                </a:solidFill>
                <a:latin typeface="Cambria" pitchFamily="34" charset="0"/>
                <a:ea typeface="Cambria" pitchFamily="34" charset="-122"/>
                <a:cs typeface="Cambria" pitchFamily="34" charset="-120"/>
              </a:rPr>
              <a:t>Asistencia de Inteligencia Artificial</a:t>
            </a:r>
            <a:endParaRPr lang="en-US" sz="4000" dirty="0"/>
          </a:p>
          <a:p>
            <a:pPr marL="0" indent="0">
              <a:lnSpc>
                <a:spcPts val="4400"/>
              </a:lnSpc>
              <a:buNone/>
            </a:pPr>
            <a:r>
              <a:rPr lang="en-US" sz="4000" b="1" dirty="0">
                <a:solidFill>
                  <a:srgbClr val="FFFFFF"/>
                </a:solidFill>
                <a:latin typeface="Cambria" pitchFamily="34" charset="0"/>
                <a:ea typeface="Cambria" pitchFamily="34" charset="-122"/>
                <a:cs typeface="Cambria" pitchFamily="34" charset="-120"/>
              </a:rPr>
              <a:t>(GitHub Copilot) en el desarrollo con C#</a:t>
            </a:r>
            <a:endParaRPr lang="en-US" sz="4000" dirty="0"/>
          </a:p>
        </p:txBody>
      </p:sp>
      <p:sp>
        <p:nvSpPr>
          <p:cNvPr id="7" name="Text 5"/>
          <p:cNvSpPr/>
          <p:nvPr/>
        </p:nvSpPr>
        <p:spPr>
          <a:xfrm>
            <a:off x="822960" y="3611880"/>
            <a:ext cx="9144000" cy="640080"/>
          </a:xfrm>
          <a:prstGeom prst="rect">
            <a:avLst/>
          </a:prstGeom>
          <a:noFill/>
          <a:ln/>
        </p:spPr>
        <p:txBody>
          <a:bodyPr wrap="square" rtlCol="0" anchor="ctr"/>
          <a:lstStyle/>
          <a:p>
            <a:pPr marL="0" indent="0">
              <a:buNone/>
            </a:pPr>
            <a:r>
              <a:rPr lang="en-US" sz="1400" i="1" dirty="0">
                <a:solidFill>
                  <a:srgbClr val="E7F3F2"/>
                </a:solidFill>
                <a:latin typeface="Calibri" pitchFamily="34" charset="0"/>
                <a:ea typeface="Calibri" pitchFamily="34" charset="-122"/>
                <a:cs typeface="Calibri" pitchFamily="34" charset="-120"/>
              </a:rPr>
              <a:t>Desarrollo de Aplicaciones con Software Propietario — DSP404</a:t>
            </a:r>
            <a:endParaRPr lang="en-US" sz="1400" dirty="0"/>
          </a:p>
          <a:p>
            <a:pPr marL="0" indent="0">
              <a:buNone/>
            </a:pPr>
            <a:r>
              <a:rPr lang="en-US" sz="1400" i="1" dirty="0">
                <a:solidFill>
                  <a:srgbClr val="E7F3F2"/>
                </a:solidFill>
                <a:latin typeface="Calibri" pitchFamily="34" charset="0"/>
                <a:ea typeface="Calibri" pitchFamily="34" charset="-122"/>
                <a:cs typeface="Calibri" pitchFamily="34" charset="-120"/>
              </a:rPr>
              <a:t>Escuela de Computación, Universidad Don Bosco</a:t>
            </a:r>
            <a:endParaRPr lang="en-US" sz="1400" dirty="0"/>
          </a:p>
        </p:txBody>
      </p:sp>
      <p:sp>
        <p:nvSpPr>
          <p:cNvPr id="8" name="Shape 6"/>
          <p:cNvSpPr/>
          <p:nvPr/>
        </p:nvSpPr>
        <p:spPr>
          <a:xfrm>
            <a:off x="822960" y="4343400"/>
            <a:ext cx="4114800" cy="0"/>
          </a:xfrm>
          <a:prstGeom prst="line">
            <a:avLst/>
          </a:prstGeom>
          <a:noFill/>
          <a:ln w="19050">
            <a:solidFill>
              <a:srgbClr val="3AAFA9"/>
            </a:solidFill>
            <a:prstDash val="solid"/>
          </a:ln>
        </p:spPr>
        <p:txBody>
          <a:bodyPr/>
          <a:lstStyle/>
          <a:p>
            <a:endParaRPr lang="es-SV"/>
          </a:p>
        </p:txBody>
      </p:sp>
      <p:sp>
        <p:nvSpPr>
          <p:cNvPr id="9" name="Text 7"/>
          <p:cNvSpPr/>
          <p:nvPr/>
        </p:nvSpPr>
        <p:spPr>
          <a:xfrm>
            <a:off x="822960" y="4526280"/>
            <a:ext cx="4572000" cy="274320"/>
          </a:xfrm>
          <a:prstGeom prst="rect">
            <a:avLst/>
          </a:prstGeom>
          <a:noFill/>
          <a:ln/>
        </p:spPr>
        <p:txBody>
          <a:bodyPr wrap="square" rtlCol="0" anchor="ctr"/>
          <a:lstStyle/>
          <a:p>
            <a:pPr marL="0" indent="0">
              <a:buNone/>
            </a:pPr>
            <a:r>
              <a:rPr lang="en-US" sz="1200" b="1" dirty="0">
                <a:solidFill>
                  <a:srgbClr val="FFC857"/>
                </a:solidFill>
                <a:latin typeface="Calibri" pitchFamily="34" charset="0"/>
                <a:ea typeface="Calibri" pitchFamily="34" charset="-122"/>
                <a:cs typeface="Calibri" pitchFamily="34" charset="-120"/>
              </a:rPr>
              <a:t>Equipo de trabajo</a:t>
            </a:r>
            <a:endParaRPr lang="en-US" sz="1200" dirty="0"/>
          </a:p>
        </p:txBody>
      </p:sp>
      <p:sp>
        <p:nvSpPr>
          <p:cNvPr id="10" name="Text 8"/>
          <p:cNvSpPr/>
          <p:nvPr/>
        </p:nvSpPr>
        <p:spPr>
          <a:xfrm>
            <a:off x="822960" y="4937760"/>
            <a:ext cx="5669280" cy="1691640"/>
          </a:xfrm>
          <a:prstGeom prst="rect">
            <a:avLst/>
          </a:prstGeom>
          <a:noFill/>
          <a:ln/>
        </p:spPr>
        <p:txBody>
          <a:bodyPr wrap="square" rtlCol="0" anchor="t"/>
          <a:lstStyle/>
          <a:p>
            <a:pPr>
              <a:lnSpc>
                <a:spcPct val="135000"/>
              </a:lnSpc>
            </a:pPr>
            <a:r>
              <a:rPr lang="en-US" sz="1250" dirty="0">
                <a:solidFill>
                  <a:srgbClr val="FFFFFF"/>
                </a:solidFill>
                <a:latin typeface="Calibri" pitchFamily="34" charset="0"/>
                <a:ea typeface="Calibri" pitchFamily="34" charset="-122"/>
                <a:cs typeface="Calibri" pitchFamily="34" charset="-120"/>
              </a:rPr>
              <a:t>Marcelo Eduardo Guerrero Rodriguez— Carnet: GR241968 </a:t>
            </a:r>
            <a:endParaRPr lang="en-US" sz="1250" dirty="0"/>
          </a:p>
          <a:p>
            <a:pPr>
              <a:lnSpc>
                <a:spcPct val="135000"/>
              </a:lnSpc>
            </a:pPr>
            <a:r>
              <a:rPr lang="it-IT" sz="1250" dirty="0">
                <a:solidFill>
                  <a:srgbClr val="FFFFFF"/>
                </a:solidFill>
                <a:latin typeface="Calibri" pitchFamily="34" charset="0"/>
                <a:ea typeface="Calibri" pitchFamily="34" charset="-122"/>
                <a:cs typeface="Calibri" pitchFamily="34" charset="-120"/>
              </a:rPr>
              <a:t>José Miguel Sosa Ayala </a:t>
            </a:r>
            <a:r>
              <a:rPr lang="en-US" sz="1250" dirty="0">
                <a:solidFill>
                  <a:srgbClr val="FFFFFF"/>
                </a:solidFill>
                <a:latin typeface="Calibri" pitchFamily="34" charset="0"/>
                <a:ea typeface="Calibri" pitchFamily="34" charset="-122"/>
                <a:cs typeface="Calibri" pitchFamily="34" charset="-120"/>
              </a:rPr>
              <a:t>— Carnet: </a:t>
            </a:r>
            <a:r>
              <a:rPr lang="it-IT" sz="1250" dirty="0">
                <a:solidFill>
                  <a:srgbClr val="FFFFFF"/>
                </a:solidFill>
                <a:latin typeface="Calibri" pitchFamily="34" charset="0"/>
                <a:ea typeface="Calibri" pitchFamily="34" charset="-122"/>
                <a:cs typeface="Calibri" pitchFamily="34" charset="-120"/>
              </a:rPr>
              <a:t>SA251597</a:t>
            </a:r>
            <a:endParaRPr lang="en-US" sz="1250" dirty="0"/>
          </a:p>
          <a:p>
            <a:pPr>
              <a:lnSpc>
                <a:spcPct val="135000"/>
              </a:lnSpc>
            </a:pPr>
            <a:r>
              <a:rPr lang="en-US" sz="1250" dirty="0">
                <a:solidFill>
                  <a:srgbClr val="FFFFFF"/>
                </a:solidFill>
                <a:latin typeface="Calibri" pitchFamily="34" charset="0"/>
                <a:ea typeface="Calibri" pitchFamily="34" charset="-122"/>
                <a:cs typeface="Calibri" pitchFamily="34" charset="-120"/>
              </a:rPr>
              <a:t>Susana Nicole Valle Méndez — Carnet: VM253306</a:t>
            </a:r>
            <a:endParaRPr lang="en-US" sz="1250" dirty="0"/>
          </a:p>
          <a:p>
            <a:pPr>
              <a:lnSpc>
                <a:spcPct val="135000"/>
              </a:lnSpc>
            </a:pPr>
            <a:r>
              <a:rPr lang="en-US" sz="1250" dirty="0">
                <a:solidFill>
                  <a:srgbClr val="FFFFFF"/>
                </a:solidFill>
                <a:latin typeface="Calibri" pitchFamily="34" charset="0"/>
                <a:ea typeface="Calibri" pitchFamily="34" charset="-122"/>
                <a:cs typeface="Calibri" pitchFamily="34" charset="-120"/>
              </a:rPr>
              <a:t>Alessandra Guadalupe González Burgos— Carnet: GB253116</a:t>
            </a:r>
          </a:p>
          <a:p>
            <a:pPr>
              <a:lnSpc>
                <a:spcPct val="135000"/>
              </a:lnSpc>
            </a:pPr>
            <a:r>
              <a:rPr lang="es-SV" sz="1250" dirty="0">
                <a:solidFill>
                  <a:srgbClr val="FFFFFF"/>
                </a:solidFill>
                <a:latin typeface="Calibri" pitchFamily="34" charset="0"/>
                <a:ea typeface="Calibri" pitchFamily="34" charset="-122"/>
                <a:cs typeface="Calibri" pitchFamily="34" charset="-120"/>
              </a:rPr>
              <a:t>Daniela Jazmin Torres Ramos</a:t>
            </a:r>
          </a:p>
          <a:p>
            <a:pPr>
              <a:lnSpc>
                <a:spcPct val="135000"/>
              </a:lnSpc>
            </a:pPr>
            <a:endParaRPr lang="es-SV" sz="1250" dirty="0">
              <a:solidFill>
                <a:srgbClr val="FFFFFF"/>
              </a:solidFill>
              <a:latin typeface="Calibri" pitchFamily="34" charset="0"/>
              <a:ea typeface="Calibri" pitchFamily="34" charset="-122"/>
              <a:cs typeface="Calibri" pitchFamily="34" charset="-120"/>
            </a:endParaRPr>
          </a:p>
          <a:p>
            <a:pPr>
              <a:lnSpc>
                <a:spcPct val="135000"/>
              </a:lnSpc>
            </a:pPr>
            <a:endParaRPr lang="en-US" sz="1250" dirty="0"/>
          </a:p>
        </p:txBody>
      </p:sp>
      <p:sp>
        <p:nvSpPr>
          <p:cNvPr id="11" name="Text 9"/>
          <p:cNvSpPr/>
          <p:nvPr/>
        </p:nvSpPr>
        <p:spPr>
          <a:xfrm>
            <a:off x="6949439" y="4892040"/>
            <a:ext cx="5029199" cy="548640"/>
          </a:xfrm>
          <a:prstGeom prst="rect">
            <a:avLst/>
          </a:prstGeom>
          <a:noFill/>
          <a:ln/>
        </p:spPr>
        <p:txBody>
          <a:bodyPr wrap="square" rtlCol="0" anchor="ctr"/>
          <a:lstStyle/>
          <a:p>
            <a:r>
              <a:rPr lang="en-US" sz="1150" i="1" dirty="0">
                <a:solidFill>
                  <a:srgbClr val="E7F3F2"/>
                </a:solidFill>
                <a:latin typeface="Calibri" pitchFamily="34" charset="0"/>
                <a:ea typeface="Calibri" pitchFamily="34" charset="-122"/>
                <a:cs typeface="Calibri" pitchFamily="34" charset="-120"/>
              </a:rPr>
              <a:t>Repositorio Git: </a:t>
            </a:r>
            <a:r>
              <a:rPr lang="en-US" sz="1150" i="1" dirty="0">
                <a:solidFill>
                  <a:srgbClr val="E7F3F2"/>
                </a:solidFill>
                <a:latin typeface="Calibri" pitchFamily="34" charset="0"/>
                <a:ea typeface="Calibri" pitchFamily="34" charset="-122"/>
                <a:cs typeface="Calibri" pitchFamily="34" charset="-120"/>
                <a:hlinkClick r:id="rId3"/>
              </a:rPr>
              <a:t>https://github.com/Alessa-gg/TareaAplicada1/upload/main</a:t>
            </a:r>
            <a:endParaRPr lang="en-US" sz="1150" i="1" dirty="0">
              <a:solidFill>
                <a:srgbClr val="E7F3F2"/>
              </a:solidFill>
              <a:latin typeface="Calibri" pitchFamily="34" charset="0"/>
              <a:ea typeface="Calibri" pitchFamily="34" charset="-122"/>
              <a:cs typeface="Calibri" pitchFamily="34" charset="-120"/>
            </a:endParaRPr>
          </a:p>
          <a:p>
            <a:endParaRPr lang="en-US" sz="1150" dirty="0"/>
          </a:p>
        </p:txBody>
      </p:sp>
      <p:sp>
        <p:nvSpPr>
          <p:cNvPr id="12" name="Text 10"/>
          <p:cNvSpPr/>
          <p:nvPr/>
        </p:nvSpPr>
        <p:spPr>
          <a:xfrm>
            <a:off x="6949440" y="6309360"/>
            <a:ext cx="4572000" cy="320040"/>
          </a:xfrm>
          <a:prstGeom prst="rect">
            <a:avLst/>
          </a:prstGeom>
          <a:noFill/>
          <a:ln/>
        </p:spPr>
        <p:txBody>
          <a:bodyPr wrap="square" rtlCol="0" anchor="ctr"/>
          <a:lstStyle/>
          <a:p>
            <a:pPr marL="0" indent="0">
              <a:buNone/>
            </a:pPr>
            <a:r>
              <a:rPr lang="en-US" sz="1100" dirty="0">
                <a:solidFill>
                  <a:srgbClr val="3AAFA9"/>
                </a:solidFill>
                <a:latin typeface="Calibri" pitchFamily="34" charset="0"/>
                <a:ea typeface="Calibri" pitchFamily="34" charset="-122"/>
                <a:cs typeface="Calibri" pitchFamily="34" charset="-120"/>
              </a:rPr>
              <a:t>Fecha de entrega: 12 de agosto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Objetivo y agenda</a:t>
            </a:r>
            <a:endParaRPr lang="en-US" sz="3000" dirty="0"/>
          </a:p>
        </p:txBody>
      </p:sp>
      <p:sp>
        <p:nvSpPr>
          <p:cNvPr id="3" name="Text 1"/>
          <p:cNvSpPr/>
          <p:nvPr/>
        </p:nvSpPr>
        <p:spPr>
          <a:xfrm>
            <a:off x="548640" y="1051560"/>
            <a:ext cx="11064240" cy="822960"/>
          </a:xfrm>
          <a:prstGeom prst="rect">
            <a:avLst/>
          </a:prstGeom>
          <a:noFill/>
          <a:ln/>
        </p:spPr>
        <p:txBody>
          <a:bodyPr wrap="square" rtlCol="0" anchor="ctr"/>
          <a:lstStyle/>
          <a:p>
            <a:pPr marL="0" indent="0">
              <a:lnSpc>
                <a:spcPct val="125000"/>
              </a:lnSpc>
              <a:buNone/>
            </a:pPr>
            <a:r>
              <a:rPr lang="en-US" sz="1400" dirty="0">
                <a:solidFill>
                  <a:srgbClr val="5B6270"/>
                </a:solidFill>
                <a:latin typeface="Calibri" pitchFamily="34" charset="0"/>
                <a:ea typeface="Calibri" pitchFamily="34" charset="-122"/>
                <a:cs typeface="Calibri" pitchFamily="34" charset="-120"/>
              </a:rPr>
              <a:t>Investigar el uso de GitHub Copilot como apoyo al desarrollo de software con C#, y aplicar lo investigado construyendo una aplicación de consola (Gestor de Tareas) que ponga en práctica colecciones genéricas, manejo de excepciones y persistencia de datos en archivos.</a:t>
            </a:r>
            <a:endParaRPr lang="en-US" sz="1400" dirty="0"/>
          </a:p>
        </p:txBody>
      </p:sp>
      <p:sp>
        <p:nvSpPr>
          <p:cNvPr id="4" name="Shape 2"/>
          <p:cNvSpPr/>
          <p:nvPr/>
        </p:nvSpPr>
        <p:spPr>
          <a:xfrm>
            <a:off x="548640" y="2103120"/>
            <a:ext cx="502920" cy="502920"/>
          </a:xfrm>
          <a:prstGeom prst="ellipse">
            <a:avLst/>
          </a:prstGeom>
          <a:solidFill>
            <a:srgbClr val="3AAFA9"/>
          </a:solidFill>
          <a:ln/>
        </p:spPr>
        <p:txBody>
          <a:bodyPr/>
          <a:lstStyle/>
          <a:p>
            <a:endParaRPr lang="es-SV"/>
          </a:p>
        </p:txBody>
      </p:sp>
      <p:sp>
        <p:nvSpPr>
          <p:cNvPr id="5" name="Text 3"/>
          <p:cNvSpPr/>
          <p:nvPr/>
        </p:nvSpPr>
        <p:spPr>
          <a:xfrm>
            <a:off x="548640" y="210312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1</a:t>
            </a:r>
            <a:endParaRPr lang="en-US" sz="1540" dirty="0"/>
          </a:p>
        </p:txBody>
      </p:sp>
      <p:sp>
        <p:nvSpPr>
          <p:cNvPr id="6" name="Text 4"/>
          <p:cNvSpPr/>
          <p:nvPr/>
        </p:nvSpPr>
        <p:spPr>
          <a:xfrm>
            <a:off x="1234440" y="2057400"/>
            <a:ext cx="4617720" cy="594360"/>
          </a:xfrm>
          <a:prstGeom prst="rect">
            <a:avLst/>
          </a:prstGeom>
          <a:noFill/>
          <a:ln/>
        </p:spPr>
        <p:txBody>
          <a:bodyPr wrap="square" rtlCol="0" anchor="ctr"/>
          <a:lstStyle/>
          <a:p>
            <a:pPr marL="0" indent="0">
              <a:buNone/>
            </a:pPr>
            <a:r>
              <a:rPr lang="en-US" sz="1450" b="1" dirty="0">
                <a:solidFill>
                  <a:srgbClr val="1B1F3B"/>
                </a:solidFill>
                <a:latin typeface="Calibri" pitchFamily="34" charset="0"/>
                <a:ea typeface="Calibri" pitchFamily="34" charset="-122"/>
                <a:cs typeface="Calibri" pitchFamily="34" charset="-120"/>
              </a:rPr>
              <a:t>Historia y desarrollo de GitHub Copilot</a:t>
            </a:r>
            <a:endParaRPr lang="en-US" sz="1450" dirty="0"/>
          </a:p>
        </p:txBody>
      </p:sp>
      <p:sp>
        <p:nvSpPr>
          <p:cNvPr id="7" name="Shape 5"/>
          <p:cNvSpPr/>
          <p:nvPr/>
        </p:nvSpPr>
        <p:spPr>
          <a:xfrm>
            <a:off x="6355080" y="2103120"/>
            <a:ext cx="502920" cy="502920"/>
          </a:xfrm>
          <a:prstGeom prst="ellipse">
            <a:avLst/>
          </a:prstGeom>
          <a:solidFill>
            <a:srgbClr val="3AAFA9"/>
          </a:solidFill>
          <a:ln/>
        </p:spPr>
        <p:txBody>
          <a:bodyPr/>
          <a:lstStyle/>
          <a:p>
            <a:endParaRPr lang="es-SV"/>
          </a:p>
        </p:txBody>
      </p:sp>
      <p:sp>
        <p:nvSpPr>
          <p:cNvPr id="8" name="Text 6"/>
          <p:cNvSpPr/>
          <p:nvPr/>
        </p:nvSpPr>
        <p:spPr>
          <a:xfrm>
            <a:off x="6355080" y="210312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2</a:t>
            </a:r>
            <a:endParaRPr lang="en-US" sz="1540" dirty="0"/>
          </a:p>
        </p:txBody>
      </p:sp>
      <p:sp>
        <p:nvSpPr>
          <p:cNvPr id="9" name="Text 7"/>
          <p:cNvSpPr/>
          <p:nvPr/>
        </p:nvSpPr>
        <p:spPr>
          <a:xfrm>
            <a:off x="7040880" y="2057400"/>
            <a:ext cx="4617720" cy="594360"/>
          </a:xfrm>
          <a:prstGeom prst="rect">
            <a:avLst/>
          </a:prstGeom>
          <a:noFill/>
          <a:ln/>
        </p:spPr>
        <p:txBody>
          <a:bodyPr wrap="square" rtlCol="0" anchor="ctr"/>
          <a:lstStyle/>
          <a:p>
            <a:pPr marL="0" indent="0">
              <a:buNone/>
            </a:pPr>
            <a:r>
              <a:rPr lang="en-US" sz="1450" b="1" dirty="0">
                <a:solidFill>
                  <a:srgbClr val="1B1F3B"/>
                </a:solidFill>
                <a:latin typeface="Calibri" pitchFamily="34" charset="0"/>
                <a:ea typeface="Calibri" pitchFamily="34" charset="-122"/>
                <a:cs typeface="Calibri" pitchFamily="34" charset="-120"/>
              </a:rPr>
              <a:t>Funcionamiento técnico</a:t>
            </a:r>
            <a:endParaRPr lang="en-US" sz="1450" dirty="0"/>
          </a:p>
        </p:txBody>
      </p:sp>
      <p:sp>
        <p:nvSpPr>
          <p:cNvPr id="10" name="Shape 8"/>
          <p:cNvSpPr/>
          <p:nvPr/>
        </p:nvSpPr>
        <p:spPr>
          <a:xfrm>
            <a:off x="548640" y="3154680"/>
            <a:ext cx="502920" cy="502920"/>
          </a:xfrm>
          <a:prstGeom prst="ellipse">
            <a:avLst/>
          </a:prstGeom>
          <a:solidFill>
            <a:srgbClr val="3AAFA9"/>
          </a:solidFill>
          <a:ln/>
        </p:spPr>
        <p:txBody>
          <a:bodyPr/>
          <a:lstStyle/>
          <a:p>
            <a:endParaRPr lang="es-SV"/>
          </a:p>
        </p:txBody>
      </p:sp>
      <p:sp>
        <p:nvSpPr>
          <p:cNvPr id="11" name="Text 9"/>
          <p:cNvSpPr/>
          <p:nvPr/>
        </p:nvSpPr>
        <p:spPr>
          <a:xfrm>
            <a:off x="548640" y="315468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3</a:t>
            </a:r>
            <a:endParaRPr lang="en-US" sz="1540" dirty="0"/>
          </a:p>
        </p:txBody>
      </p:sp>
      <p:sp>
        <p:nvSpPr>
          <p:cNvPr id="12" name="Text 10"/>
          <p:cNvSpPr/>
          <p:nvPr/>
        </p:nvSpPr>
        <p:spPr>
          <a:xfrm>
            <a:off x="1234440" y="3108960"/>
            <a:ext cx="4617720" cy="594360"/>
          </a:xfrm>
          <a:prstGeom prst="rect">
            <a:avLst/>
          </a:prstGeom>
          <a:noFill/>
          <a:ln/>
        </p:spPr>
        <p:txBody>
          <a:bodyPr wrap="square" rtlCol="0" anchor="ctr"/>
          <a:lstStyle/>
          <a:p>
            <a:pPr marL="0" indent="0">
              <a:buNone/>
            </a:pPr>
            <a:r>
              <a:rPr lang="en-US" sz="1450" b="1" dirty="0">
                <a:solidFill>
                  <a:srgbClr val="1B1F3B"/>
                </a:solidFill>
                <a:latin typeface="Calibri" pitchFamily="34" charset="0"/>
                <a:ea typeface="Calibri" pitchFamily="34" charset="-122"/>
                <a:cs typeface="Calibri" pitchFamily="34" charset="-120"/>
              </a:rPr>
              <a:t>Impacto en la productividad</a:t>
            </a:r>
            <a:endParaRPr lang="en-US" sz="1450" dirty="0"/>
          </a:p>
        </p:txBody>
      </p:sp>
      <p:sp>
        <p:nvSpPr>
          <p:cNvPr id="13" name="Shape 11"/>
          <p:cNvSpPr/>
          <p:nvPr/>
        </p:nvSpPr>
        <p:spPr>
          <a:xfrm>
            <a:off x="6355080" y="3154680"/>
            <a:ext cx="502920" cy="502920"/>
          </a:xfrm>
          <a:prstGeom prst="ellipse">
            <a:avLst/>
          </a:prstGeom>
          <a:solidFill>
            <a:srgbClr val="3AAFA9"/>
          </a:solidFill>
          <a:ln/>
        </p:spPr>
        <p:txBody>
          <a:bodyPr/>
          <a:lstStyle/>
          <a:p>
            <a:endParaRPr lang="es-SV"/>
          </a:p>
        </p:txBody>
      </p:sp>
      <p:sp>
        <p:nvSpPr>
          <p:cNvPr id="14" name="Text 12"/>
          <p:cNvSpPr/>
          <p:nvPr/>
        </p:nvSpPr>
        <p:spPr>
          <a:xfrm>
            <a:off x="6355080" y="315468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4</a:t>
            </a:r>
            <a:endParaRPr lang="en-US" sz="1540" dirty="0"/>
          </a:p>
        </p:txBody>
      </p:sp>
      <p:sp>
        <p:nvSpPr>
          <p:cNvPr id="15" name="Text 13"/>
          <p:cNvSpPr/>
          <p:nvPr/>
        </p:nvSpPr>
        <p:spPr>
          <a:xfrm>
            <a:off x="7040880" y="3108960"/>
            <a:ext cx="4617720" cy="594360"/>
          </a:xfrm>
          <a:prstGeom prst="rect">
            <a:avLst/>
          </a:prstGeom>
          <a:noFill/>
          <a:ln/>
        </p:spPr>
        <p:txBody>
          <a:bodyPr wrap="square" rtlCol="0" anchor="ctr"/>
          <a:lstStyle/>
          <a:p>
            <a:pPr marL="0" indent="0">
              <a:buNone/>
            </a:pPr>
            <a:r>
              <a:rPr lang="en-US" sz="1450" b="1" dirty="0">
                <a:solidFill>
                  <a:srgbClr val="1B1F3B"/>
                </a:solidFill>
                <a:latin typeface="Calibri" pitchFamily="34" charset="0"/>
                <a:ea typeface="Calibri" pitchFamily="34" charset="-122"/>
                <a:cs typeface="Calibri" pitchFamily="34" charset="-120"/>
              </a:rPr>
              <a:t>Ventajas en proyectos C#</a:t>
            </a:r>
            <a:endParaRPr lang="en-US" sz="1450" dirty="0"/>
          </a:p>
        </p:txBody>
      </p:sp>
      <p:sp>
        <p:nvSpPr>
          <p:cNvPr id="16" name="Shape 14"/>
          <p:cNvSpPr/>
          <p:nvPr/>
        </p:nvSpPr>
        <p:spPr>
          <a:xfrm>
            <a:off x="548640" y="4206240"/>
            <a:ext cx="502920" cy="502920"/>
          </a:xfrm>
          <a:prstGeom prst="ellipse">
            <a:avLst/>
          </a:prstGeom>
          <a:solidFill>
            <a:srgbClr val="3AAFA9"/>
          </a:solidFill>
          <a:ln/>
        </p:spPr>
        <p:txBody>
          <a:bodyPr/>
          <a:lstStyle/>
          <a:p>
            <a:endParaRPr lang="es-SV"/>
          </a:p>
        </p:txBody>
      </p:sp>
      <p:sp>
        <p:nvSpPr>
          <p:cNvPr id="17" name="Text 15"/>
          <p:cNvSpPr/>
          <p:nvPr/>
        </p:nvSpPr>
        <p:spPr>
          <a:xfrm>
            <a:off x="548640" y="420624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5</a:t>
            </a:r>
            <a:endParaRPr lang="en-US" sz="1540" dirty="0"/>
          </a:p>
        </p:txBody>
      </p:sp>
      <p:sp>
        <p:nvSpPr>
          <p:cNvPr id="18" name="Text 16"/>
          <p:cNvSpPr/>
          <p:nvPr/>
        </p:nvSpPr>
        <p:spPr>
          <a:xfrm>
            <a:off x="1234440" y="4160520"/>
            <a:ext cx="4617720" cy="594360"/>
          </a:xfrm>
          <a:prstGeom prst="rect">
            <a:avLst/>
          </a:prstGeom>
          <a:noFill/>
          <a:ln/>
        </p:spPr>
        <p:txBody>
          <a:bodyPr wrap="square" rtlCol="0" anchor="ctr"/>
          <a:lstStyle/>
          <a:p>
            <a:pPr marL="0" indent="0">
              <a:buNone/>
            </a:pPr>
            <a:r>
              <a:rPr lang="en-US" sz="1450" b="1" dirty="0">
                <a:solidFill>
                  <a:srgbClr val="1B1F3B"/>
                </a:solidFill>
                <a:latin typeface="Calibri" pitchFamily="34" charset="0"/>
                <a:ea typeface="Calibri" pitchFamily="34" charset="-122"/>
                <a:cs typeface="Calibri" pitchFamily="34" charset="-120"/>
              </a:rPr>
              <a:t>Limitaciones y desafíos</a:t>
            </a:r>
            <a:endParaRPr lang="en-US" sz="1450" dirty="0"/>
          </a:p>
        </p:txBody>
      </p:sp>
      <p:sp>
        <p:nvSpPr>
          <p:cNvPr id="19" name="Shape 17"/>
          <p:cNvSpPr/>
          <p:nvPr/>
        </p:nvSpPr>
        <p:spPr>
          <a:xfrm>
            <a:off x="6355080" y="4206240"/>
            <a:ext cx="502920" cy="502920"/>
          </a:xfrm>
          <a:prstGeom prst="ellipse">
            <a:avLst/>
          </a:prstGeom>
          <a:solidFill>
            <a:srgbClr val="3AAFA9"/>
          </a:solidFill>
          <a:ln/>
        </p:spPr>
        <p:txBody>
          <a:bodyPr/>
          <a:lstStyle/>
          <a:p>
            <a:endParaRPr lang="es-SV"/>
          </a:p>
        </p:txBody>
      </p:sp>
      <p:sp>
        <p:nvSpPr>
          <p:cNvPr id="20" name="Text 18"/>
          <p:cNvSpPr/>
          <p:nvPr/>
        </p:nvSpPr>
        <p:spPr>
          <a:xfrm>
            <a:off x="6355080" y="420624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6</a:t>
            </a:r>
            <a:endParaRPr lang="en-US" sz="1540" dirty="0"/>
          </a:p>
        </p:txBody>
      </p:sp>
      <p:sp>
        <p:nvSpPr>
          <p:cNvPr id="21" name="Text 19"/>
          <p:cNvSpPr/>
          <p:nvPr/>
        </p:nvSpPr>
        <p:spPr>
          <a:xfrm>
            <a:off x="7040880" y="4160520"/>
            <a:ext cx="4617720" cy="594360"/>
          </a:xfrm>
          <a:prstGeom prst="rect">
            <a:avLst/>
          </a:prstGeom>
          <a:noFill/>
          <a:ln/>
        </p:spPr>
        <p:txBody>
          <a:bodyPr wrap="square" rtlCol="0" anchor="ctr"/>
          <a:lstStyle/>
          <a:p>
            <a:pPr marL="0" indent="0">
              <a:buNone/>
            </a:pPr>
            <a:r>
              <a:rPr lang="en-US" sz="1450" b="1" dirty="0">
                <a:solidFill>
                  <a:srgbClr val="1B1F3B"/>
                </a:solidFill>
                <a:latin typeface="Calibri" pitchFamily="34" charset="0"/>
                <a:ea typeface="Calibri" pitchFamily="34" charset="-122"/>
                <a:cs typeface="Calibri" pitchFamily="34" charset="-120"/>
              </a:rPr>
              <a:t>Comparación con otras herramientas</a:t>
            </a:r>
            <a:endParaRPr lang="en-US" sz="1450" dirty="0"/>
          </a:p>
        </p:txBody>
      </p:sp>
      <p:sp>
        <p:nvSpPr>
          <p:cNvPr id="22" name="Shape 20"/>
          <p:cNvSpPr/>
          <p:nvPr/>
        </p:nvSpPr>
        <p:spPr>
          <a:xfrm>
            <a:off x="548640" y="5257800"/>
            <a:ext cx="502920" cy="502920"/>
          </a:xfrm>
          <a:prstGeom prst="ellipse">
            <a:avLst/>
          </a:prstGeom>
          <a:solidFill>
            <a:srgbClr val="3AAFA9"/>
          </a:solidFill>
          <a:ln/>
        </p:spPr>
        <p:txBody>
          <a:bodyPr/>
          <a:lstStyle/>
          <a:p>
            <a:endParaRPr lang="es-SV"/>
          </a:p>
        </p:txBody>
      </p:sp>
      <p:sp>
        <p:nvSpPr>
          <p:cNvPr id="23" name="Text 21"/>
          <p:cNvSpPr/>
          <p:nvPr/>
        </p:nvSpPr>
        <p:spPr>
          <a:xfrm>
            <a:off x="548640" y="525780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7</a:t>
            </a:r>
            <a:endParaRPr lang="en-US" sz="1540" dirty="0"/>
          </a:p>
        </p:txBody>
      </p:sp>
      <p:sp>
        <p:nvSpPr>
          <p:cNvPr id="24" name="Text 22"/>
          <p:cNvSpPr/>
          <p:nvPr/>
        </p:nvSpPr>
        <p:spPr>
          <a:xfrm>
            <a:off x="1234440" y="5212080"/>
            <a:ext cx="4617720" cy="594360"/>
          </a:xfrm>
          <a:prstGeom prst="rect">
            <a:avLst/>
          </a:prstGeom>
          <a:noFill/>
          <a:ln/>
        </p:spPr>
        <p:txBody>
          <a:bodyPr wrap="square" rtlCol="0" anchor="ctr"/>
          <a:lstStyle/>
          <a:p>
            <a:pPr marL="0" indent="0">
              <a:buNone/>
            </a:pPr>
            <a:r>
              <a:rPr lang="en-US" sz="1450" b="1" dirty="0">
                <a:solidFill>
                  <a:srgbClr val="1B1F3B"/>
                </a:solidFill>
                <a:latin typeface="Calibri" pitchFamily="34" charset="0"/>
                <a:ea typeface="Calibri" pitchFamily="34" charset="-122"/>
                <a:cs typeface="Calibri" pitchFamily="34" charset="-120"/>
              </a:rPr>
              <a:t>Requerimientos de hardware y software</a:t>
            </a:r>
            <a:endParaRPr lang="en-US" sz="1450" dirty="0"/>
          </a:p>
        </p:txBody>
      </p:sp>
      <p:sp>
        <p:nvSpPr>
          <p:cNvPr id="25" name="Text 23"/>
          <p:cNvSpPr/>
          <p:nvPr/>
        </p:nvSpPr>
        <p:spPr>
          <a:xfrm>
            <a:off x="457200" y="6537960"/>
            <a:ext cx="4572000" cy="274320"/>
          </a:xfrm>
          <a:prstGeom prst="rect">
            <a:avLst/>
          </a:prstGeom>
          <a:noFill/>
          <a:ln/>
        </p:spPr>
        <p:txBody>
          <a:bodyPr wrap="square" rtlCol="0" anchor="ctr"/>
          <a:lstStyle/>
          <a:p>
            <a:pPr marL="0" indent="0">
              <a:buNone/>
            </a:pPr>
            <a:r>
              <a:rPr lang="en-US" sz="900" dirty="0">
                <a:solidFill>
                  <a:srgbClr val="5B6270"/>
                </a:solidFill>
                <a:latin typeface="Calibri" pitchFamily="34" charset="0"/>
                <a:ea typeface="Calibri" pitchFamily="34" charset="-122"/>
                <a:cs typeface="Calibri" pitchFamily="34" charset="-120"/>
              </a:rPr>
              <a:t>GR241968  |  DSP404</a:t>
            </a:r>
            <a:endParaRPr lang="en-US" sz="900" dirty="0"/>
          </a:p>
        </p:txBody>
      </p:sp>
      <p:sp>
        <p:nvSpPr>
          <p:cNvPr id="26" name="Text 24"/>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2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marL="0" indent="0">
              <a:buNone/>
            </a:pPr>
            <a:r>
              <a:rPr lang="en-US" sz="2600" b="1" dirty="0">
                <a:solidFill>
                  <a:srgbClr val="1B1F3B"/>
                </a:solidFill>
                <a:latin typeface="Cambria" pitchFamily="34" charset="0"/>
                <a:ea typeface="Cambria" pitchFamily="34" charset="-122"/>
                <a:cs typeface="Cambria" pitchFamily="34" charset="-120"/>
              </a:rPr>
              <a:t>1. Historia y desarrollo de GitHub Copilot</a:t>
            </a:r>
            <a:endParaRPr lang="en-US" sz="2600" dirty="0"/>
          </a:p>
        </p:txBody>
      </p:sp>
      <p:sp>
        <p:nvSpPr>
          <p:cNvPr id="3" name="Shape 1"/>
          <p:cNvSpPr/>
          <p:nvPr/>
        </p:nvSpPr>
        <p:spPr>
          <a:xfrm>
            <a:off x="548640" y="1234440"/>
            <a:ext cx="5394960" cy="4937760"/>
          </a:xfrm>
          <a:prstGeom prst="rect">
            <a:avLst/>
          </a:prstGeom>
          <a:solidFill>
            <a:srgbClr val="E7F3F2"/>
          </a:solidFill>
          <a:ln/>
        </p:spPr>
        <p:txBody>
          <a:bodyPr/>
          <a:lstStyle/>
          <a:p>
            <a:endParaRPr lang="es-SV"/>
          </a:p>
        </p:txBody>
      </p:sp>
      <p:sp>
        <p:nvSpPr>
          <p:cNvPr id="4" name="Text 2"/>
          <p:cNvSpPr/>
          <p:nvPr/>
        </p:nvSpPr>
        <p:spPr>
          <a:xfrm>
            <a:off x="822960" y="1417320"/>
            <a:ext cx="4572000" cy="320040"/>
          </a:xfrm>
          <a:prstGeom prst="rect">
            <a:avLst/>
          </a:prstGeom>
          <a:noFill/>
          <a:ln/>
        </p:spPr>
        <p:txBody>
          <a:bodyPr wrap="square" rtlCol="0" anchor="ctr"/>
          <a:lstStyle/>
          <a:p>
            <a:pPr marL="0" indent="0">
              <a:buNone/>
            </a:pPr>
            <a:r>
              <a:rPr lang="en-US" sz="1300" b="1" dirty="0">
                <a:solidFill>
                  <a:srgbClr val="3AAFA9"/>
                </a:solidFill>
                <a:latin typeface="Calibri" pitchFamily="34" charset="0"/>
                <a:ea typeface="Calibri" pitchFamily="34" charset="-122"/>
                <a:cs typeface="Calibri" pitchFamily="34" charset="-120"/>
              </a:rPr>
              <a:t>Línea de tiempo</a:t>
            </a:r>
            <a:endParaRPr lang="en-US" sz="1300" dirty="0"/>
          </a:p>
        </p:txBody>
      </p:sp>
      <p:sp>
        <p:nvSpPr>
          <p:cNvPr id="5" name="Shape 3"/>
          <p:cNvSpPr/>
          <p:nvPr/>
        </p:nvSpPr>
        <p:spPr>
          <a:xfrm>
            <a:off x="868680" y="1920240"/>
            <a:ext cx="128016" cy="128016"/>
          </a:xfrm>
          <a:prstGeom prst="ellipse">
            <a:avLst/>
          </a:prstGeom>
          <a:solidFill>
            <a:srgbClr val="3AAFA9"/>
          </a:solidFill>
          <a:ln/>
        </p:spPr>
        <p:txBody>
          <a:bodyPr/>
          <a:lstStyle/>
          <a:p>
            <a:endParaRPr lang="es-SV"/>
          </a:p>
        </p:txBody>
      </p:sp>
      <p:sp>
        <p:nvSpPr>
          <p:cNvPr id="6" name="Text 4"/>
          <p:cNvSpPr/>
          <p:nvPr/>
        </p:nvSpPr>
        <p:spPr>
          <a:xfrm>
            <a:off x="1143000" y="1801368"/>
            <a:ext cx="914400" cy="274320"/>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2021</a:t>
            </a:r>
            <a:endParaRPr lang="en-US" sz="1250" dirty="0"/>
          </a:p>
        </p:txBody>
      </p:sp>
      <p:sp>
        <p:nvSpPr>
          <p:cNvPr id="7" name="Text 5"/>
          <p:cNvSpPr/>
          <p:nvPr/>
        </p:nvSpPr>
        <p:spPr>
          <a:xfrm>
            <a:off x="1143000" y="2057400"/>
            <a:ext cx="4480560" cy="822960"/>
          </a:xfrm>
          <a:prstGeom prst="rect">
            <a:avLst/>
          </a:prstGeom>
          <a:noFill/>
          <a:ln/>
        </p:spPr>
        <p:txBody>
          <a:bodyPr wrap="square" rtlCol="0" anchor="ctr"/>
          <a:lstStyle/>
          <a:p>
            <a:pPr marL="0" indent="0">
              <a:lnSpc>
                <a:spcPct val="115000"/>
              </a:lnSpc>
              <a:buNone/>
            </a:pPr>
            <a:r>
              <a:rPr lang="en-US" sz="1150" dirty="0">
                <a:solidFill>
                  <a:srgbClr val="5B6270"/>
                </a:solidFill>
                <a:latin typeface="Calibri" pitchFamily="34" charset="0"/>
                <a:ea typeface="Calibri" pitchFamily="34" charset="-122"/>
                <a:cs typeface="Calibri" pitchFamily="34" charset="-120"/>
              </a:rPr>
              <a:t>GitHub y OpenAI presentan Copilot en fase técnica preliminar, basado en el modelo Codex (una variante de GPT-3 entrenada con código público).</a:t>
            </a:r>
            <a:endParaRPr lang="en-US" sz="1150" dirty="0"/>
          </a:p>
        </p:txBody>
      </p:sp>
      <p:sp>
        <p:nvSpPr>
          <p:cNvPr id="8" name="Shape 6"/>
          <p:cNvSpPr/>
          <p:nvPr/>
        </p:nvSpPr>
        <p:spPr>
          <a:xfrm>
            <a:off x="868680" y="3063240"/>
            <a:ext cx="128016" cy="128016"/>
          </a:xfrm>
          <a:prstGeom prst="ellipse">
            <a:avLst/>
          </a:prstGeom>
          <a:solidFill>
            <a:srgbClr val="3AAFA9"/>
          </a:solidFill>
          <a:ln/>
        </p:spPr>
        <p:txBody>
          <a:bodyPr/>
          <a:lstStyle/>
          <a:p>
            <a:endParaRPr lang="es-SV"/>
          </a:p>
        </p:txBody>
      </p:sp>
      <p:sp>
        <p:nvSpPr>
          <p:cNvPr id="9" name="Text 7"/>
          <p:cNvSpPr/>
          <p:nvPr/>
        </p:nvSpPr>
        <p:spPr>
          <a:xfrm>
            <a:off x="1143000" y="2944368"/>
            <a:ext cx="914400" cy="274320"/>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2022</a:t>
            </a:r>
            <a:endParaRPr lang="en-US" sz="1250" dirty="0"/>
          </a:p>
        </p:txBody>
      </p:sp>
      <p:sp>
        <p:nvSpPr>
          <p:cNvPr id="10" name="Text 8"/>
          <p:cNvSpPr/>
          <p:nvPr/>
        </p:nvSpPr>
        <p:spPr>
          <a:xfrm>
            <a:off x="1143000" y="3200400"/>
            <a:ext cx="4480560" cy="822960"/>
          </a:xfrm>
          <a:prstGeom prst="rect">
            <a:avLst/>
          </a:prstGeom>
          <a:noFill/>
          <a:ln/>
        </p:spPr>
        <p:txBody>
          <a:bodyPr wrap="square" rtlCol="0" anchor="ctr"/>
          <a:lstStyle/>
          <a:p>
            <a:pPr marL="0" indent="0">
              <a:lnSpc>
                <a:spcPct val="115000"/>
              </a:lnSpc>
              <a:buNone/>
            </a:pPr>
            <a:r>
              <a:rPr lang="en-US" sz="1150" dirty="0">
                <a:solidFill>
                  <a:srgbClr val="5B6270"/>
                </a:solidFill>
                <a:latin typeface="Calibri" pitchFamily="34" charset="0"/>
                <a:ea typeface="Calibri" pitchFamily="34" charset="-122"/>
                <a:cs typeface="Calibri" pitchFamily="34" charset="-120"/>
              </a:rPr>
              <a:t>Lanzamiento general para desarrolladores individuales; se integra como extensión de Visual Studio Code.</a:t>
            </a:r>
            <a:endParaRPr lang="en-US" sz="1150" dirty="0"/>
          </a:p>
        </p:txBody>
      </p:sp>
      <p:sp>
        <p:nvSpPr>
          <p:cNvPr id="11" name="Shape 9"/>
          <p:cNvSpPr/>
          <p:nvPr/>
        </p:nvSpPr>
        <p:spPr>
          <a:xfrm>
            <a:off x="868680" y="4206240"/>
            <a:ext cx="128016" cy="128016"/>
          </a:xfrm>
          <a:prstGeom prst="ellipse">
            <a:avLst/>
          </a:prstGeom>
          <a:solidFill>
            <a:srgbClr val="3AAFA9"/>
          </a:solidFill>
          <a:ln/>
        </p:spPr>
        <p:txBody>
          <a:bodyPr/>
          <a:lstStyle/>
          <a:p>
            <a:endParaRPr lang="es-SV"/>
          </a:p>
        </p:txBody>
      </p:sp>
      <p:sp>
        <p:nvSpPr>
          <p:cNvPr id="12" name="Text 10"/>
          <p:cNvSpPr/>
          <p:nvPr/>
        </p:nvSpPr>
        <p:spPr>
          <a:xfrm>
            <a:off x="1143000" y="4087368"/>
            <a:ext cx="914400" cy="274320"/>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2023</a:t>
            </a:r>
            <a:endParaRPr lang="en-US" sz="1250" dirty="0"/>
          </a:p>
        </p:txBody>
      </p:sp>
      <p:sp>
        <p:nvSpPr>
          <p:cNvPr id="13" name="Text 11"/>
          <p:cNvSpPr/>
          <p:nvPr/>
        </p:nvSpPr>
        <p:spPr>
          <a:xfrm>
            <a:off x="1143000" y="4343400"/>
            <a:ext cx="4480560" cy="822960"/>
          </a:xfrm>
          <a:prstGeom prst="rect">
            <a:avLst/>
          </a:prstGeom>
          <a:noFill/>
          <a:ln/>
        </p:spPr>
        <p:txBody>
          <a:bodyPr wrap="square" rtlCol="0" anchor="ctr"/>
          <a:lstStyle/>
          <a:p>
            <a:pPr marL="0" indent="0">
              <a:lnSpc>
                <a:spcPct val="115000"/>
              </a:lnSpc>
              <a:buNone/>
            </a:pPr>
            <a:r>
              <a:rPr lang="en-US" sz="1150" dirty="0">
                <a:solidFill>
                  <a:srgbClr val="5B6270"/>
                </a:solidFill>
                <a:latin typeface="Calibri" pitchFamily="34" charset="0"/>
                <a:ea typeface="Calibri" pitchFamily="34" charset="-122"/>
                <a:cs typeface="Calibri" pitchFamily="34" charset="-120"/>
              </a:rPr>
              <a:t>Llega a Visual Studio y a los IDE de JetBrains; se agrega Copilot Chat y soporte más profundo para C#/.NET.</a:t>
            </a:r>
            <a:endParaRPr lang="en-US" sz="1150" dirty="0"/>
          </a:p>
        </p:txBody>
      </p:sp>
      <p:sp>
        <p:nvSpPr>
          <p:cNvPr id="14" name="Shape 12"/>
          <p:cNvSpPr/>
          <p:nvPr/>
        </p:nvSpPr>
        <p:spPr>
          <a:xfrm>
            <a:off x="868680" y="5349240"/>
            <a:ext cx="128016" cy="128016"/>
          </a:xfrm>
          <a:prstGeom prst="ellipse">
            <a:avLst/>
          </a:prstGeom>
          <a:solidFill>
            <a:srgbClr val="3AAFA9"/>
          </a:solidFill>
          <a:ln/>
        </p:spPr>
        <p:txBody>
          <a:bodyPr/>
          <a:lstStyle/>
          <a:p>
            <a:endParaRPr lang="es-SV"/>
          </a:p>
        </p:txBody>
      </p:sp>
      <p:sp>
        <p:nvSpPr>
          <p:cNvPr id="15" name="Text 13"/>
          <p:cNvSpPr/>
          <p:nvPr/>
        </p:nvSpPr>
        <p:spPr>
          <a:xfrm>
            <a:off x="1143000" y="5230368"/>
            <a:ext cx="914400" cy="274320"/>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2023-25</a:t>
            </a:r>
            <a:endParaRPr lang="en-US" sz="1250" dirty="0"/>
          </a:p>
        </p:txBody>
      </p:sp>
      <p:sp>
        <p:nvSpPr>
          <p:cNvPr id="16" name="Text 14"/>
          <p:cNvSpPr/>
          <p:nvPr/>
        </p:nvSpPr>
        <p:spPr>
          <a:xfrm>
            <a:off x="1143000" y="5486400"/>
            <a:ext cx="4480560" cy="822960"/>
          </a:xfrm>
          <a:prstGeom prst="rect">
            <a:avLst/>
          </a:prstGeom>
          <a:noFill/>
          <a:ln/>
        </p:spPr>
        <p:txBody>
          <a:bodyPr wrap="square" rtlCol="0" anchor="ctr"/>
          <a:lstStyle/>
          <a:p>
            <a:pPr marL="0" indent="0">
              <a:lnSpc>
                <a:spcPct val="115000"/>
              </a:lnSpc>
              <a:buNone/>
            </a:pPr>
            <a:r>
              <a:rPr lang="en-US" sz="1150" dirty="0">
                <a:solidFill>
                  <a:srgbClr val="5B6270"/>
                </a:solidFill>
                <a:latin typeface="Calibri" pitchFamily="34" charset="0"/>
                <a:ea typeface="Calibri" pitchFamily="34" charset="-122"/>
                <a:cs typeface="Calibri" pitchFamily="34" charset="-120"/>
              </a:rPr>
              <a:t>Evolución hacia modelos más recientes de OpenAI, mejoras en la calidad de sugerencias y nuevas funciones empresariales.</a:t>
            </a:r>
            <a:endParaRPr lang="en-US" sz="1150" dirty="0"/>
          </a:p>
        </p:txBody>
      </p:sp>
      <p:sp>
        <p:nvSpPr>
          <p:cNvPr id="17" name="Shape 15"/>
          <p:cNvSpPr/>
          <p:nvPr/>
        </p:nvSpPr>
        <p:spPr>
          <a:xfrm>
            <a:off x="6263640" y="1234440"/>
            <a:ext cx="5394960" cy="4937760"/>
          </a:xfrm>
          <a:prstGeom prst="rect">
            <a:avLst/>
          </a:prstGeom>
          <a:solidFill>
            <a:srgbClr val="1B1F3B"/>
          </a:solidFill>
          <a:ln/>
        </p:spPr>
        <p:txBody>
          <a:bodyPr/>
          <a:lstStyle/>
          <a:p>
            <a:endParaRPr lang="es-SV"/>
          </a:p>
        </p:txBody>
      </p:sp>
      <p:sp>
        <p:nvSpPr>
          <p:cNvPr id="18" name="Text 16"/>
          <p:cNvSpPr/>
          <p:nvPr/>
        </p:nvSpPr>
        <p:spPr>
          <a:xfrm>
            <a:off x="6537960" y="1463040"/>
            <a:ext cx="4846320" cy="365760"/>
          </a:xfrm>
          <a:prstGeom prst="rect">
            <a:avLst/>
          </a:prstGeom>
          <a:noFill/>
          <a:ln/>
        </p:spPr>
        <p:txBody>
          <a:bodyPr wrap="square" rtlCol="0" anchor="ctr"/>
          <a:lstStyle/>
          <a:p>
            <a:pPr marL="0" indent="0">
              <a:buNone/>
            </a:pPr>
            <a:r>
              <a:rPr lang="en-US" sz="1400" b="1" dirty="0">
                <a:solidFill>
                  <a:srgbClr val="FFC857"/>
                </a:solidFill>
                <a:latin typeface="Calibri" pitchFamily="34" charset="0"/>
                <a:ea typeface="Calibri" pitchFamily="34" charset="-122"/>
                <a:cs typeface="Calibri" pitchFamily="34" charset="-120"/>
              </a:rPr>
              <a:t>Colaboración GitHub + OpenAI</a:t>
            </a:r>
            <a:endParaRPr lang="en-US" sz="1400" dirty="0"/>
          </a:p>
        </p:txBody>
      </p:sp>
      <p:sp>
        <p:nvSpPr>
          <p:cNvPr id="19" name="Text 17"/>
          <p:cNvSpPr/>
          <p:nvPr/>
        </p:nvSpPr>
        <p:spPr>
          <a:xfrm>
            <a:off x="6537960" y="1965960"/>
            <a:ext cx="4846320" cy="3931920"/>
          </a:xfrm>
          <a:prstGeom prst="rect">
            <a:avLst/>
          </a:prstGeom>
          <a:noFill/>
          <a:ln/>
        </p:spPr>
        <p:txBody>
          <a:bodyPr wrap="square" rtlCol="0" anchor="ctr"/>
          <a:lstStyle/>
          <a:p>
            <a:pPr marL="342900" indent="-342900">
              <a:lnSpc>
                <a:spcPct val="130000"/>
              </a:lnSpc>
              <a:spcAft>
                <a:spcPts val="1200"/>
              </a:spcAft>
              <a:buSzPct val="100000"/>
              <a:buChar char="•"/>
            </a:pPr>
            <a:r>
              <a:rPr lang="en-US" sz="1300" dirty="0">
                <a:solidFill>
                  <a:srgbClr val="E7F3F2"/>
                </a:solidFill>
                <a:latin typeface="Calibri" pitchFamily="34" charset="0"/>
                <a:ea typeface="Calibri" pitchFamily="34" charset="-122"/>
                <a:cs typeface="Calibri" pitchFamily="34" charset="-120"/>
              </a:rPr>
              <a:t>GitHub aportó la escala de código público de sus repositorios; OpenAI aportó la arquitectura de modelo de lenguaje (familia GPT/Codex).</a:t>
            </a:r>
            <a:endParaRPr lang="en-US" sz="1300" dirty="0"/>
          </a:p>
          <a:p>
            <a:pPr marL="342900" indent="-342900">
              <a:lnSpc>
                <a:spcPct val="130000"/>
              </a:lnSpc>
              <a:spcAft>
                <a:spcPts val="1200"/>
              </a:spcAft>
              <a:buSzPct val="100000"/>
              <a:buChar char="•"/>
            </a:pPr>
            <a:r>
              <a:rPr lang="en-US" sz="1300" dirty="0">
                <a:solidFill>
                  <a:srgbClr val="E7F3F2"/>
                </a:solidFill>
                <a:latin typeface="Calibri" pitchFamily="34" charset="0"/>
                <a:ea typeface="Calibri" pitchFamily="34" charset="-122"/>
                <a:cs typeface="Calibri" pitchFamily="34" charset="-120"/>
              </a:rPr>
              <a:t>Microsoft, como propietario de GitHub, impulsó la integración comercial de Copilot dentro de su ecosistema de herramientas para desarrolladores.</a:t>
            </a:r>
            <a:endParaRPr lang="en-US" sz="1300" dirty="0"/>
          </a:p>
          <a:p>
            <a:pPr marL="342900" indent="-342900">
              <a:lnSpc>
                <a:spcPct val="130000"/>
              </a:lnSpc>
              <a:spcAft>
                <a:spcPts val="1200"/>
              </a:spcAft>
              <a:buSzPct val="100000"/>
              <a:buChar char="•"/>
            </a:pPr>
            <a:r>
              <a:rPr lang="en-US" sz="1300" dirty="0">
                <a:solidFill>
                  <a:srgbClr val="E7F3F2"/>
                </a:solidFill>
                <a:latin typeface="Calibri" pitchFamily="34" charset="0"/>
                <a:ea typeface="Calibri" pitchFamily="34" charset="-122"/>
                <a:cs typeface="Calibri" pitchFamily="34" charset="-120"/>
              </a:rPr>
              <a:t>Con el tiempo, Copilot pasó de sugerir líneas de código a ofrecer un chat conversacional y asistencia en depuración dentro del propio IDE.</a:t>
            </a:r>
            <a:endParaRPr lang="en-US" sz="1300" dirty="0"/>
          </a:p>
        </p:txBody>
      </p:sp>
      <p:sp>
        <p:nvSpPr>
          <p:cNvPr id="20" name="Text 18"/>
          <p:cNvSpPr/>
          <p:nvPr/>
        </p:nvSpPr>
        <p:spPr>
          <a:xfrm>
            <a:off x="457200" y="6537960"/>
            <a:ext cx="4572000" cy="274320"/>
          </a:xfrm>
          <a:prstGeom prst="rect">
            <a:avLst/>
          </a:prstGeom>
          <a:noFill/>
          <a:ln/>
        </p:spPr>
        <p:txBody>
          <a:bodyPr wrap="square" rtlCol="0" anchor="ctr"/>
          <a:lstStyle/>
          <a:p>
            <a:pPr marL="0" indent="0">
              <a:buNone/>
            </a:pPr>
            <a:r>
              <a:rPr lang="en-US" sz="900" dirty="0">
                <a:solidFill>
                  <a:srgbClr val="5B6270"/>
                </a:solidFill>
                <a:latin typeface="Calibri" pitchFamily="34" charset="0"/>
                <a:ea typeface="Calibri" pitchFamily="34" charset="-122"/>
                <a:cs typeface="Calibri" pitchFamily="34" charset="-120"/>
              </a:rPr>
              <a:t>GR241968  |  DSP404</a:t>
            </a:r>
            <a:endParaRPr lang="en-US" sz="900" dirty="0"/>
          </a:p>
        </p:txBody>
      </p:sp>
      <p:sp>
        <p:nvSpPr>
          <p:cNvPr id="21" name="Text 19"/>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27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marL="0" indent="0">
              <a:buNone/>
            </a:pPr>
            <a:r>
              <a:rPr lang="en-US" sz="2600" b="1" dirty="0">
                <a:solidFill>
                  <a:srgbClr val="1B1F3B"/>
                </a:solidFill>
                <a:latin typeface="Cambria" pitchFamily="34" charset="0"/>
                <a:ea typeface="Cambria" pitchFamily="34" charset="-122"/>
                <a:cs typeface="Cambria" pitchFamily="34" charset="-120"/>
              </a:rPr>
              <a:t>2. Funcionamiento técnico de GitHub Copilot</a:t>
            </a:r>
            <a:endParaRPr lang="en-US" sz="2600" dirty="0"/>
          </a:p>
        </p:txBody>
      </p:sp>
      <p:sp>
        <p:nvSpPr>
          <p:cNvPr id="3" name="Shape 1"/>
          <p:cNvSpPr/>
          <p:nvPr/>
        </p:nvSpPr>
        <p:spPr>
          <a:xfrm>
            <a:off x="548640" y="1280160"/>
            <a:ext cx="2697480" cy="2743200"/>
          </a:xfrm>
          <a:prstGeom prst="roundRect">
            <a:avLst>
              <a:gd name="adj" fmla="val 2712"/>
            </a:avLst>
          </a:prstGeom>
          <a:solidFill>
            <a:srgbClr val="E7F3F2"/>
          </a:solidFill>
          <a:ln/>
        </p:spPr>
        <p:txBody>
          <a:bodyPr/>
          <a:lstStyle/>
          <a:p>
            <a:endParaRPr lang="es-SV"/>
          </a:p>
        </p:txBody>
      </p:sp>
      <p:sp>
        <p:nvSpPr>
          <p:cNvPr id="4" name="Shape 2"/>
          <p:cNvSpPr/>
          <p:nvPr/>
        </p:nvSpPr>
        <p:spPr>
          <a:xfrm>
            <a:off x="1577340" y="1508760"/>
            <a:ext cx="640080" cy="640080"/>
          </a:xfrm>
          <a:prstGeom prst="ellipse">
            <a:avLst/>
          </a:prstGeom>
          <a:solidFill>
            <a:srgbClr val="3AAFA9"/>
          </a:solidFill>
          <a:ln/>
        </p:spPr>
        <p:txBody>
          <a:bodyPr/>
          <a:lstStyle/>
          <a:p>
            <a:endParaRPr lang="es-SV"/>
          </a:p>
        </p:txBody>
      </p:sp>
      <p:sp>
        <p:nvSpPr>
          <p:cNvPr id="5" name="Text 3"/>
          <p:cNvSpPr/>
          <p:nvPr/>
        </p:nvSpPr>
        <p:spPr>
          <a:xfrm>
            <a:off x="1577340" y="1508760"/>
            <a:ext cx="640080" cy="640080"/>
          </a:xfrm>
          <a:prstGeom prst="rect">
            <a:avLst/>
          </a:prstGeom>
          <a:noFill/>
          <a:ln/>
        </p:spPr>
        <p:txBody>
          <a:bodyPr wrap="square" rtlCol="0" anchor="ctr"/>
          <a:lstStyle/>
          <a:p>
            <a:pPr marL="0" indent="0" algn="ctr">
              <a:buNone/>
            </a:pPr>
            <a:r>
              <a:rPr lang="en-US" sz="1960" b="1" dirty="0">
                <a:solidFill>
                  <a:srgbClr val="FFFFFF"/>
                </a:solidFill>
                <a:latin typeface="Calibri" pitchFamily="34" charset="0"/>
                <a:ea typeface="Calibri" pitchFamily="34" charset="-122"/>
                <a:cs typeface="Calibri" pitchFamily="34" charset="-120"/>
              </a:rPr>
              <a:t>1</a:t>
            </a:r>
            <a:endParaRPr lang="en-US" sz="1960" dirty="0"/>
          </a:p>
        </p:txBody>
      </p:sp>
      <p:sp>
        <p:nvSpPr>
          <p:cNvPr id="6" name="Text 4"/>
          <p:cNvSpPr/>
          <p:nvPr/>
        </p:nvSpPr>
        <p:spPr>
          <a:xfrm>
            <a:off x="685800" y="2286000"/>
            <a:ext cx="2423160" cy="365760"/>
          </a:xfrm>
          <a:prstGeom prst="rect">
            <a:avLst/>
          </a:prstGeom>
          <a:noFill/>
          <a:ln/>
        </p:spPr>
        <p:txBody>
          <a:bodyPr wrap="square" rtlCol="0" anchor="ctr"/>
          <a:lstStyle/>
          <a:p>
            <a:pPr marL="0" indent="0" algn="ctr">
              <a:buNone/>
            </a:pPr>
            <a:r>
              <a:rPr lang="en-US" sz="1400" b="1" dirty="0">
                <a:solidFill>
                  <a:srgbClr val="1B1F3B"/>
                </a:solidFill>
                <a:latin typeface="Calibri" pitchFamily="34" charset="0"/>
                <a:ea typeface="Calibri" pitchFamily="34" charset="-122"/>
                <a:cs typeface="Calibri" pitchFamily="34" charset="-120"/>
              </a:rPr>
              <a:t>Contexto</a:t>
            </a:r>
            <a:endParaRPr lang="en-US" sz="1400" dirty="0"/>
          </a:p>
        </p:txBody>
      </p:sp>
      <p:sp>
        <p:nvSpPr>
          <p:cNvPr id="7" name="Text 5"/>
          <p:cNvSpPr/>
          <p:nvPr/>
        </p:nvSpPr>
        <p:spPr>
          <a:xfrm>
            <a:off x="731520" y="2697480"/>
            <a:ext cx="2331720" cy="1280160"/>
          </a:xfrm>
          <a:prstGeom prst="rect">
            <a:avLst/>
          </a:prstGeom>
          <a:noFill/>
          <a:ln/>
        </p:spPr>
        <p:txBody>
          <a:bodyPr wrap="square" rtlCol="0" anchor="ctr"/>
          <a:lstStyle/>
          <a:p>
            <a:pPr marL="0" indent="0" algn="ctr">
              <a:lnSpc>
                <a:spcPct val="120000"/>
              </a:lnSpc>
              <a:buNone/>
            </a:pPr>
            <a:r>
              <a:rPr lang="en-US" sz="1080" dirty="0">
                <a:solidFill>
                  <a:srgbClr val="5B6270"/>
                </a:solidFill>
                <a:latin typeface="Calibri" pitchFamily="34" charset="0"/>
                <a:ea typeface="Calibri" pitchFamily="34" charset="-122"/>
                <a:cs typeface="Calibri" pitchFamily="34" charset="-120"/>
              </a:rPr>
              <a:t>El desarrollador escribe código o un comentario en lenguaje natural describiendo lo que necesita.</a:t>
            </a:r>
            <a:endParaRPr lang="en-US" sz="1080" dirty="0"/>
          </a:p>
        </p:txBody>
      </p:sp>
      <p:sp>
        <p:nvSpPr>
          <p:cNvPr id="8" name="Text 6"/>
          <p:cNvSpPr/>
          <p:nvPr/>
        </p:nvSpPr>
        <p:spPr>
          <a:xfrm>
            <a:off x="3246120" y="2377440"/>
            <a:ext cx="182880" cy="457200"/>
          </a:xfrm>
          <a:prstGeom prst="rect">
            <a:avLst/>
          </a:prstGeom>
          <a:noFill/>
          <a:ln/>
        </p:spPr>
        <p:txBody>
          <a:bodyPr wrap="square" rtlCol="0" anchor="ctr"/>
          <a:lstStyle/>
          <a:p>
            <a:pPr marL="0" indent="0" algn="ctr">
              <a:buNone/>
            </a:pPr>
            <a:r>
              <a:rPr lang="en-US" sz="1800" b="1" dirty="0">
                <a:solidFill>
                  <a:srgbClr val="3AAFA9"/>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3429000" y="1280160"/>
            <a:ext cx="2697480" cy="2743200"/>
          </a:xfrm>
          <a:prstGeom prst="roundRect">
            <a:avLst>
              <a:gd name="adj" fmla="val 2712"/>
            </a:avLst>
          </a:prstGeom>
          <a:solidFill>
            <a:srgbClr val="E7F3F2"/>
          </a:solidFill>
          <a:ln/>
        </p:spPr>
        <p:txBody>
          <a:bodyPr/>
          <a:lstStyle/>
          <a:p>
            <a:endParaRPr lang="es-SV"/>
          </a:p>
        </p:txBody>
      </p:sp>
      <p:sp>
        <p:nvSpPr>
          <p:cNvPr id="10" name="Shape 8"/>
          <p:cNvSpPr/>
          <p:nvPr/>
        </p:nvSpPr>
        <p:spPr>
          <a:xfrm>
            <a:off x="4457700" y="1508760"/>
            <a:ext cx="640080" cy="640080"/>
          </a:xfrm>
          <a:prstGeom prst="ellipse">
            <a:avLst/>
          </a:prstGeom>
          <a:solidFill>
            <a:srgbClr val="3AAFA9"/>
          </a:solidFill>
          <a:ln/>
        </p:spPr>
        <p:txBody>
          <a:bodyPr/>
          <a:lstStyle/>
          <a:p>
            <a:endParaRPr lang="es-SV"/>
          </a:p>
        </p:txBody>
      </p:sp>
      <p:sp>
        <p:nvSpPr>
          <p:cNvPr id="11" name="Text 9"/>
          <p:cNvSpPr/>
          <p:nvPr/>
        </p:nvSpPr>
        <p:spPr>
          <a:xfrm>
            <a:off x="4457700" y="1508760"/>
            <a:ext cx="640080" cy="640080"/>
          </a:xfrm>
          <a:prstGeom prst="rect">
            <a:avLst/>
          </a:prstGeom>
          <a:noFill/>
          <a:ln/>
        </p:spPr>
        <p:txBody>
          <a:bodyPr wrap="square" rtlCol="0" anchor="ctr"/>
          <a:lstStyle/>
          <a:p>
            <a:pPr marL="0" indent="0" algn="ctr">
              <a:buNone/>
            </a:pPr>
            <a:r>
              <a:rPr lang="en-US" sz="1960" b="1" dirty="0">
                <a:solidFill>
                  <a:srgbClr val="FFFFFF"/>
                </a:solidFill>
                <a:latin typeface="Calibri" pitchFamily="34" charset="0"/>
                <a:ea typeface="Calibri" pitchFamily="34" charset="-122"/>
                <a:cs typeface="Calibri" pitchFamily="34" charset="-120"/>
              </a:rPr>
              <a:t>2</a:t>
            </a:r>
            <a:endParaRPr lang="en-US" sz="1960" dirty="0"/>
          </a:p>
        </p:txBody>
      </p:sp>
      <p:sp>
        <p:nvSpPr>
          <p:cNvPr id="12" name="Text 10"/>
          <p:cNvSpPr/>
          <p:nvPr/>
        </p:nvSpPr>
        <p:spPr>
          <a:xfrm>
            <a:off x="3566160" y="2286000"/>
            <a:ext cx="2423160" cy="365760"/>
          </a:xfrm>
          <a:prstGeom prst="rect">
            <a:avLst/>
          </a:prstGeom>
          <a:noFill/>
          <a:ln/>
        </p:spPr>
        <p:txBody>
          <a:bodyPr wrap="square" rtlCol="0" anchor="ctr"/>
          <a:lstStyle/>
          <a:p>
            <a:pPr marL="0" indent="0" algn="ctr">
              <a:buNone/>
            </a:pPr>
            <a:r>
              <a:rPr lang="en-US" sz="1400" b="1" dirty="0">
                <a:solidFill>
                  <a:srgbClr val="1B1F3B"/>
                </a:solidFill>
                <a:latin typeface="Calibri" pitchFamily="34" charset="0"/>
                <a:ea typeface="Calibri" pitchFamily="34" charset="-122"/>
                <a:cs typeface="Calibri" pitchFamily="34" charset="-120"/>
              </a:rPr>
              <a:t>Modelo de lenguaje</a:t>
            </a:r>
            <a:endParaRPr lang="en-US" sz="1400" dirty="0"/>
          </a:p>
        </p:txBody>
      </p:sp>
      <p:sp>
        <p:nvSpPr>
          <p:cNvPr id="13" name="Text 11"/>
          <p:cNvSpPr/>
          <p:nvPr/>
        </p:nvSpPr>
        <p:spPr>
          <a:xfrm>
            <a:off x="3611880" y="2697480"/>
            <a:ext cx="2331720" cy="1280160"/>
          </a:xfrm>
          <a:prstGeom prst="rect">
            <a:avLst/>
          </a:prstGeom>
          <a:noFill/>
          <a:ln/>
        </p:spPr>
        <p:txBody>
          <a:bodyPr wrap="square" rtlCol="0" anchor="ctr"/>
          <a:lstStyle/>
          <a:p>
            <a:pPr marL="0" indent="0" algn="ctr">
              <a:lnSpc>
                <a:spcPct val="120000"/>
              </a:lnSpc>
              <a:buNone/>
            </a:pPr>
            <a:r>
              <a:rPr lang="en-US" sz="1080" dirty="0">
                <a:solidFill>
                  <a:srgbClr val="5B6270"/>
                </a:solidFill>
                <a:latin typeface="Calibri" pitchFamily="34" charset="0"/>
                <a:ea typeface="Calibri" pitchFamily="34" charset="-122"/>
                <a:cs typeface="Calibri" pitchFamily="34" charset="-120"/>
              </a:rPr>
              <a:t>Un modelo entrenado con grandes volúmenes de código público (basado en la arquitectura Transformer) interpreta ese contexto.</a:t>
            </a:r>
            <a:endParaRPr lang="en-US" sz="1080" dirty="0"/>
          </a:p>
        </p:txBody>
      </p:sp>
      <p:sp>
        <p:nvSpPr>
          <p:cNvPr id="14" name="Text 12"/>
          <p:cNvSpPr/>
          <p:nvPr/>
        </p:nvSpPr>
        <p:spPr>
          <a:xfrm>
            <a:off x="6126480" y="2377440"/>
            <a:ext cx="182880" cy="457200"/>
          </a:xfrm>
          <a:prstGeom prst="rect">
            <a:avLst/>
          </a:prstGeom>
          <a:noFill/>
          <a:ln/>
        </p:spPr>
        <p:txBody>
          <a:bodyPr wrap="square" rtlCol="0" anchor="ctr"/>
          <a:lstStyle/>
          <a:p>
            <a:pPr marL="0" indent="0" algn="ctr">
              <a:buNone/>
            </a:pPr>
            <a:r>
              <a:rPr lang="en-US" sz="1800" b="1" dirty="0">
                <a:solidFill>
                  <a:srgbClr val="3AAFA9"/>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6309360" y="1280160"/>
            <a:ext cx="2697480" cy="2743200"/>
          </a:xfrm>
          <a:prstGeom prst="roundRect">
            <a:avLst>
              <a:gd name="adj" fmla="val 2712"/>
            </a:avLst>
          </a:prstGeom>
          <a:solidFill>
            <a:srgbClr val="E7F3F2"/>
          </a:solidFill>
          <a:ln/>
        </p:spPr>
        <p:txBody>
          <a:bodyPr/>
          <a:lstStyle/>
          <a:p>
            <a:endParaRPr lang="es-SV"/>
          </a:p>
        </p:txBody>
      </p:sp>
      <p:sp>
        <p:nvSpPr>
          <p:cNvPr id="16" name="Shape 14"/>
          <p:cNvSpPr/>
          <p:nvPr/>
        </p:nvSpPr>
        <p:spPr>
          <a:xfrm>
            <a:off x="7338060" y="1508760"/>
            <a:ext cx="640080" cy="640080"/>
          </a:xfrm>
          <a:prstGeom prst="ellipse">
            <a:avLst/>
          </a:prstGeom>
          <a:solidFill>
            <a:srgbClr val="3AAFA9"/>
          </a:solidFill>
          <a:ln/>
        </p:spPr>
        <p:txBody>
          <a:bodyPr/>
          <a:lstStyle/>
          <a:p>
            <a:endParaRPr lang="es-SV"/>
          </a:p>
        </p:txBody>
      </p:sp>
      <p:sp>
        <p:nvSpPr>
          <p:cNvPr id="17" name="Text 15"/>
          <p:cNvSpPr/>
          <p:nvPr/>
        </p:nvSpPr>
        <p:spPr>
          <a:xfrm>
            <a:off x="7338060" y="1508760"/>
            <a:ext cx="640080" cy="640080"/>
          </a:xfrm>
          <a:prstGeom prst="rect">
            <a:avLst/>
          </a:prstGeom>
          <a:noFill/>
          <a:ln/>
        </p:spPr>
        <p:txBody>
          <a:bodyPr wrap="square" rtlCol="0" anchor="ctr"/>
          <a:lstStyle/>
          <a:p>
            <a:pPr marL="0" indent="0" algn="ctr">
              <a:buNone/>
            </a:pPr>
            <a:r>
              <a:rPr lang="en-US" sz="1960" b="1" dirty="0">
                <a:solidFill>
                  <a:srgbClr val="FFFFFF"/>
                </a:solidFill>
                <a:latin typeface="Calibri" pitchFamily="34" charset="0"/>
                <a:ea typeface="Calibri" pitchFamily="34" charset="-122"/>
                <a:cs typeface="Calibri" pitchFamily="34" charset="-120"/>
              </a:rPr>
              <a:t>3</a:t>
            </a:r>
            <a:endParaRPr lang="en-US" sz="1960" dirty="0"/>
          </a:p>
        </p:txBody>
      </p:sp>
      <p:sp>
        <p:nvSpPr>
          <p:cNvPr id="18" name="Text 16"/>
          <p:cNvSpPr/>
          <p:nvPr/>
        </p:nvSpPr>
        <p:spPr>
          <a:xfrm>
            <a:off x="6446520" y="2286000"/>
            <a:ext cx="2423160" cy="365760"/>
          </a:xfrm>
          <a:prstGeom prst="rect">
            <a:avLst/>
          </a:prstGeom>
          <a:noFill/>
          <a:ln/>
        </p:spPr>
        <p:txBody>
          <a:bodyPr wrap="square" rtlCol="0" anchor="ctr"/>
          <a:lstStyle/>
          <a:p>
            <a:pPr marL="0" indent="0" algn="ctr">
              <a:buNone/>
            </a:pPr>
            <a:r>
              <a:rPr lang="en-US" sz="1400" b="1" dirty="0">
                <a:solidFill>
                  <a:srgbClr val="1B1F3B"/>
                </a:solidFill>
                <a:latin typeface="Calibri" pitchFamily="34" charset="0"/>
                <a:ea typeface="Calibri" pitchFamily="34" charset="-122"/>
                <a:cs typeface="Calibri" pitchFamily="34" charset="-120"/>
              </a:rPr>
              <a:t>Sugerencia</a:t>
            </a:r>
            <a:endParaRPr lang="en-US" sz="1400" dirty="0"/>
          </a:p>
        </p:txBody>
      </p:sp>
      <p:sp>
        <p:nvSpPr>
          <p:cNvPr id="19" name="Text 17"/>
          <p:cNvSpPr/>
          <p:nvPr/>
        </p:nvSpPr>
        <p:spPr>
          <a:xfrm>
            <a:off x="6492240" y="2697480"/>
            <a:ext cx="2331720" cy="1280160"/>
          </a:xfrm>
          <a:prstGeom prst="rect">
            <a:avLst/>
          </a:prstGeom>
          <a:noFill/>
          <a:ln/>
        </p:spPr>
        <p:txBody>
          <a:bodyPr wrap="square" rtlCol="0" anchor="ctr"/>
          <a:lstStyle/>
          <a:p>
            <a:pPr marL="0" indent="0" algn="ctr">
              <a:lnSpc>
                <a:spcPct val="120000"/>
              </a:lnSpc>
              <a:buNone/>
            </a:pPr>
            <a:r>
              <a:rPr lang="en-US" sz="1080" dirty="0">
                <a:solidFill>
                  <a:srgbClr val="5B6270"/>
                </a:solidFill>
                <a:latin typeface="Calibri" pitchFamily="34" charset="0"/>
                <a:ea typeface="Calibri" pitchFamily="34" charset="-122"/>
                <a:cs typeface="Calibri" pitchFamily="34" charset="-120"/>
              </a:rPr>
              <a:t>Copilot propone una o varias posibles continuaciones de código, que el desarrollador puede aceptar, editar o descartar.</a:t>
            </a:r>
            <a:endParaRPr lang="en-US" sz="1080" dirty="0"/>
          </a:p>
        </p:txBody>
      </p:sp>
      <p:sp>
        <p:nvSpPr>
          <p:cNvPr id="20" name="Text 18"/>
          <p:cNvSpPr/>
          <p:nvPr/>
        </p:nvSpPr>
        <p:spPr>
          <a:xfrm>
            <a:off x="9006840" y="2377440"/>
            <a:ext cx="182880" cy="457200"/>
          </a:xfrm>
          <a:prstGeom prst="rect">
            <a:avLst/>
          </a:prstGeom>
          <a:noFill/>
          <a:ln/>
        </p:spPr>
        <p:txBody>
          <a:bodyPr wrap="square" rtlCol="0" anchor="ctr"/>
          <a:lstStyle/>
          <a:p>
            <a:pPr marL="0" indent="0" algn="ctr">
              <a:buNone/>
            </a:pPr>
            <a:r>
              <a:rPr lang="en-US" sz="1800" b="1" dirty="0">
                <a:solidFill>
                  <a:srgbClr val="3AAFA9"/>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9189720" y="1280160"/>
            <a:ext cx="2697480" cy="2743200"/>
          </a:xfrm>
          <a:prstGeom prst="roundRect">
            <a:avLst>
              <a:gd name="adj" fmla="val 2712"/>
            </a:avLst>
          </a:prstGeom>
          <a:solidFill>
            <a:srgbClr val="E7F3F2"/>
          </a:solidFill>
          <a:ln/>
        </p:spPr>
        <p:txBody>
          <a:bodyPr/>
          <a:lstStyle/>
          <a:p>
            <a:endParaRPr lang="es-SV"/>
          </a:p>
        </p:txBody>
      </p:sp>
      <p:sp>
        <p:nvSpPr>
          <p:cNvPr id="22" name="Shape 20"/>
          <p:cNvSpPr/>
          <p:nvPr/>
        </p:nvSpPr>
        <p:spPr>
          <a:xfrm>
            <a:off x="10218420" y="1508760"/>
            <a:ext cx="640080" cy="640080"/>
          </a:xfrm>
          <a:prstGeom prst="ellipse">
            <a:avLst/>
          </a:prstGeom>
          <a:solidFill>
            <a:srgbClr val="3AAFA9"/>
          </a:solidFill>
          <a:ln/>
        </p:spPr>
        <p:txBody>
          <a:bodyPr/>
          <a:lstStyle/>
          <a:p>
            <a:endParaRPr lang="es-SV"/>
          </a:p>
        </p:txBody>
      </p:sp>
      <p:sp>
        <p:nvSpPr>
          <p:cNvPr id="23" name="Text 21"/>
          <p:cNvSpPr/>
          <p:nvPr/>
        </p:nvSpPr>
        <p:spPr>
          <a:xfrm>
            <a:off x="10218420" y="1508760"/>
            <a:ext cx="640080" cy="640080"/>
          </a:xfrm>
          <a:prstGeom prst="rect">
            <a:avLst/>
          </a:prstGeom>
          <a:noFill/>
          <a:ln/>
        </p:spPr>
        <p:txBody>
          <a:bodyPr wrap="square" rtlCol="0" anchor="ctr"/>
          <a:lstStyle/>
          <a:p>
            <a:pPr marL="0" indent="0" algn="ctr">
              <a:buNone/>
            </a:pPr>
            <a:r>
              <a:rPr lang="en-US" sz="1960" b="1" dirty="0">
                <a:solidFill>
                  <a:srgbClr val="FFFFFF"/>
                </a:solidFill>
                <a:latin typeface="Calibri" pitchFamily="34" charset="0"/>
                <a:ea typeface="Calibri" pitchFamily="34" charset="-122"/>
                <a:cs typeface="Calibri" pitchFamily="34" charset="-120"/>
              </a:rPr>
              <a:t>4</a:t>
            </a:r>
            <a:endParaRPr lang="en-US" sz="1960" dirty="0"/>
          </a:p>
        </p:txBody>
      </p:sp>
      <p:sp>
        <p:nvSpPr>
          <p:cNvPr id="24" name="Text 22"/>
          <p:cNvSpPr/>
          <p:nvPr/>
        </p:nvSpPr>
        <p:spPr>
          <a:xfrm>
            <a:off x="9326880" y="2286000"/>
            <a:ext cx="2423160" cy="365760"/>
          </a:xfrm>
          <a:prstGeom prst="rect">
            <a:avLst/>
          </a:prstGeom>
          <a:noFill/>
          <a:ln/>
        </p:spPr>
        <p:txBody>
          <a:bodyPr wrap="square" rtlCol="0" anchor="ctr"/>
          <a:lstStyle/>
          <a:p>
            <a:pPr marL="0" indent="0" algn="ctr">
              <a:buNone/>
            </a:pPr>
            <a:r>
              <a:rPr lang="en-US" sz="1400" b="1" dirty="0">
                <a:solidFill>
                  <a:srgbClr val="1B1F3B"/>
                </a:solidFill>
                <a:latin typeface="Calibri" pitchFamily="34" charset="0"/>
                <a:ea typeface="Calibri" pitchFamily="34" charset="-122"/>
                <a:cs typeface="Calibri" pitchFamily="34" charset="-120"/>
              </a:rPr>
              <a:t>Integración en el IDE</a:t>
            </a:r>
            <a:endParaRPr lang="en-US" sz="1400" dirty="0"/>
          </a:p>
        </p:txBody>
      </p:sp>
      <p:sp>
        <p:nvSpPr>
          <p:cNvPr id="25" name="Text 23"/>
          <p:cNvSpPr/>
          <p:nvPr/>
        </p:nvSpPr>
        <p:spPr>
          <a:xfrm>
            <a:off x="9372600" y="2697480"/>
            <a:ext cx="2331720" cy="1280160"/>
          </a:xfrm>
          <a:prstGeom prst="rect">
            <a:avLst/>
          </a:prstGeom>
          <a:noFill/>
          <a:ln/>
        </p:spPr>
        <p:txBody>
          <a:bodyPr wrap="square" rtlCol="0" anchor="ctr"/>
          <a:lstStyle/>
          <a:p>
            <a:pPr marL="0" indent="0" algn="ctr">
              <a:lnSpc>
                <a:spcPct val="120000"/>
              </a:lnSpc>
              <a:buNone/>
            </a:pPr>
            <a:r>
              <a:rPr lang="en-US" sz="1080" dirty="0">
                <a:solidFill>
                  <a:srgbClr val="5B6270"/>
                </a:solidFill>
                <a:latin typeface="Calibri" pitchFamily="34" charset="0"/>
                <a:ea typeface="Calibri" pitchFamily="34" charset="-122"/>
                <a:cs typeface="Calibri" pitchFamily="34" charset="-120"/>
              </a:rPr>
              <a:t>Todo ocurre dentro de Visual Studio o Visual Studio Code, como autocompletado en línea o como chat lateral.</a:t>
            </a:r>
            <a:endParaRPr lang="en-US" sz="1080" dirty="0"/>
          </a:p>
        </p:txBody>
      </p:sp>
      <p:sp>
        <p:nvSpPr>
          <p:cNvPr id="26" name="Shape 24"/>
          <p:cNvSpPr/>
          <p:nvPr/>
        </p:nvSpPr>
        <p:spPr>
          <a:xfrm>
            <a:off x="548640" y="4297680"/>
            <a:ext cx="11064240" cy="1737360"/>
          </a:xfrm>
          <a:prstGeom prst="rect">
            <a:avLst/>
          </a:prstGeom>
          <a:solidFill>
            <a:srgbClr val="1B1F3B"/>
          </a:solidFill>
          <a:ln/>
        </p:spPr>
        <p:txBody>
          <a:bodyPr/>
          <a:lstStyle/>
          <a:p>
            <a:endParaRPr lang="es-SV"/>
          </a:p>
        </p:txBody>
      </p:sp>
      <p:sp>
        <p:nvSpPr>
          <p:cNvPr id="27" name="Text 25"/>
          <p:cNvSpPr/>
          <p:nvPr/>
        </p:nvSpPr>
        <p:spPr>
          <a:xfrm>
            <a:off x="822960" y="4434840"/>
            <a:ext cx="10515600" cy="320040"/>
          </a:xfrm>
          <a:prstGeom prst="rect">
            <a:avLst/>
          </a:prstGeom>
          <a:noFill/>
          <a:ln/>
        </p:spPr>
        <p:txBody>
          <a:bodyPr wrap="square" rtlCol="0" anchor="ctr"/>
          <a:lstStyle/>
          <a:p>
            <a:pPr marL="0" indent="0">
              <a:buNone/>
            </a:pPr>
            <a:r>
              <a:rPr lang="en-US" sz="1300" b="1" dirty="0">
                <a:solidFill>
                  <a:srgbClr val="FFC857"/>
                </a:solidFill>
                <a:latin typeface="Calibri" pitchFamily="34" charset="0"/>
                <a:ea typeface="Calibri" pitchFamily="34" charset="-122"/>
                <a:cs typeface="Calibri" pitchFamily="34" charset="-120"/>
              </a:rPr>
              <a:t>Técnicas de aprendizaje profundo detrás del modelo</a:t>
            </a:r>
            <a:endParaRPr lang="en-US" sz="1300" dirty="0"/>
          </a:p>
        </p:txBody>
      </p:sp>
      <p:sp>
        <p:nvSpPr>
          <p:cNvPr id="28" name="Text 26"/>
          <p:cNvSpPr/>
          <p:nvPr/>
        </p:nvSpPr>
        <p:spPr>
          <a:xfrm>
            <a:off x="822960" y="4800600"/>
            <a:ext cx="10515600" cy="1097280"/>
          </a:xfrm>
          <a:prstGeom prst="rect">
            <a:avLst/>
          </a:prstGeom>
          <a:noFill/>
          <a:ln/>
        </p:spPr>
        <p:txBody>
          <a:bodyPr wrap="square" rtlCol="0" anchor="ctr"/>
          <a:lstStyle/>
          <a:p>
            <a:pPr marL="0" indent="0">
              <a:lnSpc>
                <a:spcPct val="125000"/>
              </a:lnSpc>
              <a:buNone/>
            </a:pPr>
            <a:r>
              <a:rPr lang="en-US" sz="1200" dirty="0">
                <a:solidFill>
                  <a:srgbClr val="E7F3F2"/>
                </a:solidFill>
                <a:latin typeface="Calibri" pitchFamily="34" charset="0"/>
                <a:ea typeface="Calibri" pitchFamily="34" charset="-122"/>
                <a:cs typeface="Calibri" pitchFamily="34" charset="-120"/>
              </a:rPr>
              <a:t>El modelo se basa en redes neuronales tipo Transformer, entrenadas mediante aprendizaje auto-supervisado sobre millones de repositorios de código. Aprende patrones de sintaxis y de uso común de bibliotecas, lo que le permite predecir la secuencia de tokens de código más probable dado un contexto, de forma similar a como un modelo de lenguaje predice la siguiente palabra en un texto.</a:t>
            </a:r>
            <a:endParaRPr lang="en-US" sz="1200" dirty="0"/>
          </a:p>
        </p:txBody>
      </p:sp>
      <p:sp>
        <p:nvSpPr>
          <p:cNvPr id="29" name="Text 27"/>
          <p:cNvSpPr/>
          <p:nvPr/>
        </p:nvSpPr>
        <p:spPr>
          <a:xfrm>
            <a:off x="457200" y="6537960"/>
            <a:ext cx="4572000" cy="274320"/>
          </a:xfrm>
          <a:prstGeom prst="rect">
            <a:avLst/>
          </a:prstGeom>
          <a:noFill/>
          <a:ln/>
        </p:spPr>
        <p:txBody>
          <a:bodyPr wrap="square" rtlCol="0" anchor="ctr"/>
          <a:lstStyle/>
          <a:p>
            <a:pPr marL="0" indent="0">
              <a:buNone/>
            </a:pPr>
            <a:r>
              <a:rPr lang="en-US" sz="900" dirty="0">
                <a:solidFill>
                  <a:srgbClr val="5B6270"/>
                </a:solidFill>
                <a:latin typeface="Calibri" pitchFamily="34" charset="0"/>
                <a:ea typeface="Calibri" pitchFamily="34" charset="-122"/>
                <a:cs typeface="Calibri" pitchFamily="34" charset="-120"/>
              </a:rPr>
              <a:t>GR241968  |  DSP404</a:t>
            </a:r>
            <a:endParaRPr lang="en-US" sz="900" dirty="0"/>
          </a:p>
        </p:txBody>
      </p:sp>
      <p:sp>
        <p:nvSpPr>
          <p:cNvPr id="30" name="Text 28"/>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2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marL="0" indent="0">
              <a:buNone/>
            </a:pPr>
            <a:r>
              <a:rPr lang="en-US" sz="2600" b="1" dirty="0">
                <a:solidFill>
                  <a:srgbClr val="1B1F3B"/>
                </a:solidFill>
                <a:latin typeface="Cambria" pitchFamily="34" charset="0"/>
                <a:ea typeface="Cambria" pitchFamily="34" charset="-122"/>
                <a:cs typeface="Cambria" pitchFamily="34" charset="-120"/>
              </a:rPr>
              <a:t>3. Impacto en la productividad del desarrollador</a:t>
            </a:r>
            <a:endParaRPr lang="en-US" sz="2600" dirty="0"/>
          </a:p>
        </p:txBody>
      </p:sp>
      <p:sp>
        <p:nvSpPr>
          <p:cNvPr id="3" name="Shape 1"/>
          <p:cNvSpPr/>
          <p:nvPr/>
        </p:nvSpPr>
        <p:spPr>
          <a:xfrm>
            <a:off x="548640" y="1234440"/>
            <a:ext cx="3520440" cy="1920240"/>
          </a:xfrm>
          <a:prstGeom prst="roundRect">
            <a:avLst>
              <a:gd name="adj" fmla="val 3810"/>
            </a:avLst>
          </a:prstGeom>
          <a:solidFill>
            <a:srgbClr val="3AAFA9"/>
          </a:solidFill>
          <a:ln/>
        </p:spPr>
        <p:txBody>
          <a:bodyPr/>
          <a:lstStyle/>
          <a:p>
            <a:endParaRPr lang="es-SV"/>
          </a:p>
        </p:txBody>
      </p:sp>
      <p:sp>
        <p:nvSpPr>
          <p:cNvPr id="4" name="Text 2"/>
          <p:cNvSpPr/>
          <p:nvPr/>
        </p:nvSpPr>
        <p:spPr>
          <a:xfrm>
            <a:off x="548640" y="1325880"/>
            <a:ext cx="3520440" cy="86868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55%</a:t>
            </a:r>
            <a:endParaRPr lang="en-US" sz="4400" dirty="0"/>
          </a:p>
        </p:txBody>
      </p:sp>
      <p:sp>
        <p:nvSpPr>
          <p:cNvPr id="5" name="Text 3"/>
          <p:cNvSpPr/>
          <p:nvPr/>
        </p:nvSpPr>
        <p:spPr>
          <a:xfrm>
            <a:off x="731520" y="2194560"/>
            <a:ext cx="3154680" cy="868680"/>
          </a:xfrm>
          <a:prstGeom prst="rect">
            <a:avLst/>
          </a:prstGeom>
          <a:noFill/>
          <a:ln/>
        </p:spPr>
        <p:txBody>
          <a:bodyPr wrap="square" rtlCol="0" anchor="ctr"/>
          <a:lstStyle/>
          <a:p>
            <a:pPr marL="0" indent="0" algn="ctr">
              <a:lnSpc>
                <a:spcPct val="115000"/>
              </a:lnSpc>
              <a:buNone/>
            </a:pPr>
            <a:r>
              <a:rPr lang="en-US" sz="1050" dirty="0">
                <a:solidFill>
                  <a:srgbClr val="FFFFFF"/>
                </a:solidFill>
                <a:latin typeface="Calibri" pitchFamily="34" charset="0"/>
                <a:ea typeface="Calibri" pitchFamily="34" charset="-122"/>
                <a:cs typeface="Calibri" pitchFamily="34" charset="-120"/>
              </a:rPr>
              <a:t>más código escrito según pruebas internas de GitHub, comparando tareas con y sin Copilot</a:t>
            </a:r>
            <a:endParaRPr lang="en-US" sz="1050" dirty="0"/>
          </a:p>
        </p:txBody>
      </p:sp>
      <p:sp>
        <p:nvSpPr>
          <p:cNvPr id="6" name="Shape 4"/>
          <p:cNvSpPr/>
          <p:nvPr/>
        </p:nvSpPr>
        <p:spPr>
          <a:xfrm>
            <a:off x="4297680" y="1234440"/>
            <a:ext cx="3520440" cy="1920240"/>
          </a:xfrm>
          <a:prstGeom prst="roundRect">
            <a:avLst>
              <a:gd name="adj" fmla="val 3810"/>
            </a:avLst>
          </a:prstGeom>
          <a:solidFill>
            <a:srgbClr val="3AAFA9"/>
          </a:solidFill>
          <a:ln/>
        </p:spPr>
        <p:txBody>
          <a:bodyPr/>
          <a:lstStyle/>
          <a:p>
            <a:endParaRPr lang="es-SV"/>
          </a:p>
        </p:txBody>
      </p:sp>
      <p:sp>
        <p:nvSpPr>
          <p:cNvPr id="7" name="Text 5"/>
          <p:cNvSpPr/>
          <p:nvPr/>
        </p:nvSpPr>
        <p:spPr>
          <a:xfrm>
            <a:off x="4297680" y="1325880"/>
            <a:ext cx="3520440" cy="86868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75%</a:t>
            </a:r>
            <a:endParaRPr lang="en-US" sz="4400" dirty="0"/>
          </a:p>
        </p:txBody>
      </p:sp>
      <p:sp>
        <p:nvSpPr>
          <p:cNvPr id="8" name="Text 6"/>
          <p:cNvSpPr/>
          <p:nvPr/>
        </p:nvSpPr>
        <p:spPr>
          <a:xfrm>
            <a:off x="4480560" y="2194560"/>
            <a:ext cx="3154680" cy="868680"/>
          </a:xfrm>
          <a:prstGeom prst="rect">
            <a:avLst/>
          </a:prstGeom>
          <a:noFill/>
          <a:ln/>
        </p:spPr>
        <p:txBody>
          <a:bodyPr wrap="square" rtlCol="0" anchor="ctr"/>
          <a:lstStyle/>
          <a:p>
            <a:pPr marL="0" indent="0" algn="ctr">
              <a:lnSpc>
                <a:spcPct val="115000"/>
              </a:lnSpc>
              <a:buNone/>
            </a:pPr>
            <a:r>
              <a:rPr lang="en-US" sz="1050" dirty="0">
                <a:solidFill>
                  <a:srgbClr val="FFFFFF"/>
                </a:solidFill>
                <a:latin typeface="Calibri" pitchFamily="34" charset="0"/>
                <a:ea typeface="Calibri" pitchFamily="34" charset="-122"/>
                <a:cs typeface="Calibri" pitchFamily="34" charset="-120"/>
              </a:rPr>
              <a:t>de los desarrolladores reporta mayor satisfacción al trabajar con la herramienta</a:t>
            </a:r>
            <a:endParaRPr lang="en-US" sz="1050" dirty="0"/>
          </a:p>
        </p:txBody>
      </p:sp>
      <p:sp>
        <p:nvSpPr>
          <p:cNvPr id="9" name="Shape 7"/>
          <p:cNvSpPr/>
          <p:nvPr/>
        </p:nvSpPr>
        <p:spPr>
          <a:xfrm>
            <a:off x="8046720" y="1234440"/>
            <a:ext cx="3520440" cy="1920240"/>
          </a:xfrm>
          <a:prstGeom prst="roundRect">
            <a:avLst>
              <a:gd name="adj" fmla="val 3810"/>
            </a:avLst>
          </a:prstGeom>
          <a:solidFill>
            <a:srgbClr val="3AAFA9"/>
          </a:solidFill>
          <a:ln/>
        </p:spPr>
        <p:txBody>
          <a:bodyPr/>
          <a:lstStyle/>
          <a:p>
            <a:endParaRPr lang="es-SV"/>
          </a:p>
        </p:txBody>
      </p:sp>
      <p:sp>
        <p:nvSpPr>
          <p:cNvPr id="10" name="Text 8"/>
          <p:cNvSpPr/>
          <p:nvPr/>
        </p:nvSpPr>
        <p:spPr>
          <a:xfrm>
            <a:off x="8046720" y="1325880"/>
            <a:ext cx="3520440" cy="86868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95%</a:t>
            </a:r>
            <a:endParaRPr lang="en-US" sz="4400" dirty="0"/>
          </a:p>
        </p:txBody>
      </p:sp>
      <p:sp>
        <p:nvSpPr>
          <p:cNvPr id="11" name="Text 9"/>
          <p:cNvSpPr/>
          <p:nvPr/>
        </p:nvSpPr>
        <p:spPr>
          <a:xfrm>
            <a:off x="8229600" y="2194560"/>
            <a:ext cx="3154680" cy="868680"/>
          </a:xfrm>
          <a:prstGeom prst="rect">
            <a:avLst/>
          </a:prstGeom>
          <a:noFill/>
          <a:ln/>
        </p:spPr>
        <p:txBody>
          <a:bodyPr wrap="square" rtlCol="0" anchor="ctr"/>
          <a:lstStyle/>
          <a:p>
            <a:pPr marL="0" indent="0" algn="ctr">
              <a:lnSpc>
                <a:spcPct val="115000"/>
              </a:lnSpc>
              <a:buNone/>
            </a:pPr>
            <a:r>
              <a:rPr lang="en-US" sz="1050" dirty="0">
                <a:solidFill>
                  <a:srgbClr val="FFFFFF"/>
                </a:solidFill>
                <a:latin typeface="Calibri" pitchFamily="34" charset="0"/>
                <a:ea typeface="Calibri" pitchFamily="34" charset="-122"/>
                <a:cs typeface="Calibri" pitchFamily="34" charset="-120"/>
              </a:rPr>
              <a:t>tasa de reparación de soluciones defectuosas de Copilot en un estudio académico, con menor tiempo de corrección que las de estudiantes noveles</a:t>
            </a:r>
            <a:endParaRPr lang="en-US" sz="1050" dirty="0"/>
          </a:p>
        </p:txBody>
      </p:sp>
      <p:sp>
        <p:nvSpPr>
          <p:cNvPr id="12" name="Text 10"/>
          <p:cNvSpPr/>
          <p:nvPr/>
        </p:nvSpPr>
        <p:spPr>
          <a:xfrm>
            <a:off x="548640" y="3429000"/>
            <a:ext cx="10972800" cy="365760"/>
          </a:xfrm>
          <a:prstGeom prst="rect">
            <a:avLst/>
          </a:prstGeom>
          <a:noFill/>
          <a:ln/>
        </p:spPr>
        <p:txBody>
          <a:bodyPr wrap="square" rtlCol="0" anchor="ctr"/>
          <a:lstStyle/>
          <a:p>
            <a:pPr marL="0" indent="0">
              <a:buNone/>
            </a:pPr>
            <a:r>
              <a:rPr lang="en-US" sz="1500" b="1" dirty="0">
                <a:solidFill>
                  <a:srgbClr val="1B1F3B"/>
                </a:solidFill>
                <a:latin typeface="Calibri" pitchFamily="34" charset="0"/>
                <a:ea typeface="Calibri" pitchFamily="34" charset="-122"/>
                <a:cs typeface="Calibri" pitchFamily="34" charset="-120"/>
              </a:rPr>
              <a:t>Métodos de medición y percepción de los desarrolladores</a:t>
            </a:r>
            <a:endParaRPr lang="en-US" sz="1500" dirty="0"/>
          </a:p>
        </p:txBody>
      </p:sp>
      <p:sp>
        <p:nvSpPr>
          <p:cNvPr id="13" name="Text 11"/>
          <p:cNvSpPr/>
          <p:nvPr/>
        </p:nvSpPr>
        <p:spPr>
          <a:xfrm>
            <a:off x="548640" y="3840480"/>
            <a:ext cx="11064240" cy="1920240"/>
          </a:xfrm>
          <a:prstGeom prst="rect">
            <a:avLst/>
          </a:prstGeom>
          <a:noFill/>
          <a:ln/>
        </p:spPr>
        <p:txBody>
          <a:bodyPr wrap="square" rtlCol="0" anchor="ctr"/>
          <a:lstStyle/>
          <a:p>
            <a:pPr marL="342900" indent="-342900">
              <a:lnSpc>
                <a:spcPct val="125000"/>
              </a:lnSpc>
              <a:spcAft>
                <a:spcPts val="800"/>
              </a:spcAft>
              <a:buSzPct val="100000"/>
              <a:buChar char="•"/>
            </a:pPr>
            <a:r>
              <a:rPr lang="en-US" sz="1300" dirty="0">
                <a:solidFill>
                  <a:srgbClr val="5B6270"/>
                </a:solidFill>
                <a:latin typeface="Calibri" pitchFamily="34" charset="0"/>
                <a:ea typeface="Calibri" pitchFamily="34" charset="-122"/>
                <a:cs typeface="Calibri" pitchFamily="34" charset="-120"/>
              </a:rPr>
              <a:t>Encuestas a gran escala (marco SPACE) que combinan tasa de aceptación de sugerencias, persistencia del código aceptado y percepción subjetiva de productividad.</a:t>
            </a:r>
            <a:endParaRPr lang="en-US" sz="1300" dirty="0"/>
          </a:p>
          <a:p>
            <a:pPr marL="342900" indent="-342900">
              <a:lnSpc>
                <a:spcPct val="125000"/>
              </a:lnSpc>
              <a:spcAft>
                <a:spcPts val="800"/>
              </a:spcAft>
              <a:buSzPct val="100000"/>
              <a:buChar char="•"/>
            </a:pPr>
            <a:r>
              <a:rPr lang="en-US" sz="1300" dirty="0">
                <a:solidFill>
                  <a:srgbClr val="5B6270"/>
                </a:solidFill>
                <a:latin typeface="Calibri" pitchFamily="34" charset="0"/>
                <a:ea typeface="Calibri" pitchFamily="34" charset="-122"/>
                <a:cs typeface="Calibri" pitchFamily="34" charset="-120"/>
              </a:rPr>
              <a:t>Experimentos controlados en los que un mismo equipo resuelve historias de usuario equivalentes con y sin Copilot, midiendo el tiempo total de desarrollo.</a:t>
            </a:r>
            <a:endParaRPr lang="en-US" sz="1300" dirty="0"/>
          </a:p>
          <a:p>
            <a:pPr marL="342900" indent="-342900">
              <a:lnSpc>
                <a:spcPct val="125000"/>
              </a:lnSpc>
              <a:spcAft>
                <a:spcPts val="800"/>
              </a:spcAft>
              <a:buSzPct val="100000"/>
              <a:buChar char="•"/>
            </a:pPr>
            <a:r>
              <a:rPr lang="en-US" sz="1300" dirty="0">
                <a:solidFill>
                  <a:srgbClr val="5B6270"/>
                </a:solidFill>
                <a:latin typeface="Calibri" pitchFamily="34" charset="0"/>
                <a:ea typeface="Calibri" pitchFamily="34" charset="-122"/>
                <a:cs typeface="Calibri" pitchFamily="34" charset="-120"/>
              </a:rPr>
              <a:t>Estudios académicos que comparan la tasa de soluciones correctas de Copilot frente a estudiantes o desarrolladores junior en tareas de programación.</a:t>
            </a:r>
            <a:endParaRPr lang="en-US" sz="1300" dirty="0"/>
          </a:p>
        </p:txBody>
      </p:sp>
      <p:sp>
        <p:nvSpPr>
          <p:cNvPr id="14" name="Text 12"/>
          <p:cNvSpPr/>
          <p:nvPr/>
        </p:nvSpPr>
        <p:spPr>
          <a:xfrm>
            <a:off x="548640" y="6172200"/>
            <a:ext cx="7315200" cy="274320"/>
          </a:xfrm>
          <a:prstGeom prst="rect">
            <a:avLst/>
          </a:prstGeom>
          <a:noFill/>
          <a:ln/>
        </p:spPr>
        <p:txBody>
          <a:bodyPr wrap="square" rtlCol="0" anchor="ctr"/>
          <a:lstStyle/>
          <a:p>
            <a:pPr marL="0" indent="0">
              <a:buNone/>
            </a:pPr>
            <a:r>
              <a:rPr lang="en-US" sz="950" i="1" dirty="0">
                <a:solidFill>
                  <a:srgbClr val="5B6270"/>
                </a:solidFill>
                <a:latin typeface="Calibri" pitchFamily="34" charset="0"/>
                <a:ea typeface="Calibri" pitchFamily="34" charset="-122"/>
                <a:cs typeface="Calibri" pitchFamily="34" charset="-120"/>
              </a:rPr>
              <a:t>Fuentes: GitHub (2023); Dakhel et al. (2023) [1]</a:t>
            </a:r>
            <a:endParaRPr lang="en-US" sz="950" dirty="0"/>
          </a:p>
        </p:txBody>
      </p:sp>
      <p:sp>
        <p:nvSpPr>
          <p:cNvPr id="15" name="Text 13"/>
          <p:cNvSpPr/>
          <p:nvPr/>
        </p:nvSpPr>
        <p:spPr>
          <a:xfrm>
            <a:off x="457200" y="6537960"/>
            <a:ext cx="4572000" cy="274320"/>
          </a:xfrm>
          <a:prstGeom prst="rect">
            <a:avLst/>
          </a:prstGeom>
          <a:noFill/>
          <a:ln/>
        </p:spPr>
        <p:txBody>
          <a:bodyPr wrap="square" rtlCol="0" anchor="ctr"/>
          <a:lstStyle/>
          <a:p>
            <a:pPr marL="0" indent="0">
              <a:buNone/>
            </a:pPr>
            <a:r>
              <a:rPr lang="en-US" sz="900" dirty="0">
                <a:solidFill>
                  <a:srgbClr val="5B6270"/>
                </a:solidFill>
                <a:latin typeface="Calibri" pitchFamily="34" charset="0"/>
                <a:ea typeface="Calibri" pitchFamily="34" charset="-122"/>
                <a:cs typeface="Calibri" pitchFamily="34" charset="-120"/>
              </a:rPr>
              <a:t>GR241968  |  DSP404</a:t>
            </a:r>
            <a:endParaRPr lang="en-US" sz="900" dirty="0"/>
          </a:p>
        </p:txBody>
      </p:sp>
      <p:sp>
        <p:nvSpPr>
          <p:cNvPr id="16" name="Text 14"/>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2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marL="0" indent="0">
              <a:buNone/>
            </a:pPr>
            <a:r>
              <a:rPr lang="en-US" sz="2600" b="1" dirty="0">
                <a:solidFill>
                  <a:srgbClr val="1B1F3B"/>
                </a:solidFill>
                <a:latin typeface="Cambria" pitchFamily="34" charset="0"/>
                <a:ea typeface="Cambria" pitchFamily="34" charset="-122"/>
                <a:cs typeface="Cambria" pitchFamily="34" charset="-120"/>
              </a:rPr>
              <a:t>4. Ventajas de usar GitHub Copilot en proyectos C#</a:t>
            </a:r>
            <a:endParaRPr lang="en-US" sz="2600" dirty="0"/>
          </a:p>
        </p:txBody>
      </p:sp>
      <p:sp>
        <p:nvSpPr>
          <p:cNvPr id="3" name="Shape 1"/>
          <p:cNvSpPr/>
          <p:nvPr/>
        </p:nvSpPr>
        <p:spPr>
          <a:xfrm>
            <a:off x="548640" y="1280160"/>
            <a:ext cx="5349240" cy="2103120"/>
          </a:xfrm>
          <a:prstGeom prst="roundRect">
            <a:avLst>
              <a:gd name="adj" fmla="val 3043"/>
            </a:avLst>
          </a:prstGeom>
          <a:solidFill>
            <a:srgbClr val="E7F3F2"/>
          </a:solidFill>
          <a:ln/>
        </p:spPr>
        <p:txBody>
          <a:bodyPr/>
          <a:lstStyle/>
          <a:p>
            <a:endParaRPr lang="es-SV"/>
          </a:p>
        </p:txBody>
      </p:sp>
      <p:sp>
        <p:nvSpPr>
          <p:cNvPr id="4" name="Shape 2"/>
          <p:cNvSpPr/>
          <p:nvPr/>
        </p:nvSpPr>
        <p:spPr>
          <a:xfrm>
            <a:off x="822960" y="1554480"/>
            <a:ext cx="502920" cy="502920"/>
          </a:xfrm>
          <a:prstGeom prst="ellipse">
            <a:avLst/>
          </a:prstGeom>
          <a:solidFill>
            <a:srgbClr val="3AAFA9"/>
          </a:solidFill>
          <a:ln/>
        </p:spPr>
        <p:txBody>
          <a:bodyPr/>
          <a:lstStyle/>
          <a:p>
            <a:endParaRPr lang="es-SV"/>
          </a:p>
        </p:txBody>
      </p:sp>
      <p:sp>
        <p:nvSpPr>
          <p:cNvPr id="5" name="Text 3"/>
          <p:cNvSpPr/>
          <p:nvPr/>
        </p:nvSpPr>
        <p:spPr>
          <a:xfrm>
            <a:off x="822960" y="155448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1</a:t>
            </a:r>
            <a:endParaRPr lang="en-US" sz="1540" dirty="0"/>
          </a:p>
        </p:txBody>
      </p:sp>
      <p:sp>
        <p:nvSpPr>
          <p:cNvPr id="6" name="Text 4"/>
          <p:cNvSpPr/>
          <p:nvPr/>
        </p:nvSpPr>
        <p:spPr>
          <a:xfrm>
            <a:off x="1508760" y="1481328"/>
            <a:ext cx="4160520" cy="457200"/>
          </a:xfrm>
          <a:prstGeom prst="rect">
            <a:avLst/>
          </a:prstGeom>
          <a:noFill/>
          <a:ln/>
        </p:spPr>
        <p:txBody>
          <a:bodyPr wrap="square" rtlCol="0" anchor="ctr"/>
          <a:lstStyle/>
          <a:p>
            <a:pPr marL="0" indent="0">
              <a:buNone/>
            </a:pPr>
            <a:r>
              <a:rPr lang="en-US" sz="1500" b="1" dirty="0">
                <a:solidFill>
                  <a:srgbClr val="1B1F3B"/>
                </a:solidFill>
                <a:latin typeface="Calibri" pitchFamily="34" charset="0"/>
                <a:ea typeface="Calibri" pitchFamily="34" charset="-122"/>
                <a:cs typeface="Calibri" pitchFamily="34" charset="-120"/>
              </a:rPr>
              <a:t>Generación de código</a:t>
            </a:r>
            <a:endParaRPr lang="en-US" sz="1500" dirty="0"/>
          </a:p>
        </p:txBody>
      </p:sp>
      <p:sp>
        <p:nvSpPr>
          <p:cNvPr id="7" name="Text 5"/>
          <p:cNvSpPr/>
          <p:nvPr/>
        </p:nvSpPr>
        <p:spPr>
          <a:xfrm>
            <a:off x="868680" y="2148840"/>
            <a:ext cx="4709160" cy="1143000"/>
          </a:xfrm>
          <a:prstGeom prst="rect">
            <a:avLst/>
          </a:prstGeom>
          <a:noFill/>
          <a:ln/>
        </p:spPr>
        <p:txBody>
          <a:bodyPr wrap="square" rtlCol="0" anchor="ctr"/>
          <a:lstStyle/>
          <a:p>
            <a:pPr marL="0" indent="0">
              <a:lnSpc>
                <a:spcPct val="120000"/>
              </a:lnSpc>
              <a:buNone/>
            </a:pPr>
            <a:r>
              <a:rPr lang="en-US" sz="1150" dirty="0">
                <a:solidFill>
                  <a:srgbClr val="5B6270"/>
                </a:solidFill>
                <a:latin typeface="Calibri" pitchFamily="34" charset="0"/>
                <a:ea typeface="Calibri" pitchFamily="34" charset="-122"/>
                <a:cs typeface="Calibri" pitchFamily="34" charset="-120"/>
              </a:rPr>
              <a:t>Clases, métodos y pruebas unitarias generadas a partir de un comentario o firma de método, útil al crear repositorios y modelos como Tarea o Usuario.</a:t>
            </a:r>
            <a:endParaRPr lang="en-US" sz="1150" dirty="0"/>
          </a:p>
        </p:txBody>
      </p:sp>
      <p:sp>
        <p:nvSpPr>
          <p:cNvPr id="8" name="Shape 6"/>
          <p:cNvSpPr/>
          <p:nvPr/>
        </p:nvSpPr>
        <p:spPr>
          <a:xfrm>
            <a:off x="6355080" y="1280160"/>
            <a:ext cx="5349240" cy="2103120"/>
          </a:xfrm>
          <a:prstGeom prst="roundRect">
            <a:avLst>
              <a:gd name="adj" fmla="val 3043"/>
            </a:avLst>
          </a:prstGeom>
          <a:solidFill>
            <a:srgbClr val="E7F3F2"/>
          </a:solidFill>
          <a:ln/>
        </p:spPr>
        <p:txBody>
          <a:bodyPr/>
          <a:lstStyle/>
          <a:p>
            <a:endParaRPr lang="es-SV"/>
          </a:p>
        </p:txBody>
      </p:sp>
      <p:sp>
        <p:nvSpPr>
          <p:cNvPr id="9" name="Shape 7"/>
          <p:cNvSpPr/>
          <p:nvPr/>
        </p:nvSpPr>
        <p:spPr>
          <a:xfrm>
            <a:off x="6629400" y="1554480"/>
            <a:ext cx="502920" cy="502920"/>
          </a:xfrm>
          <a:prstGeom prst="ellipse">
            <a:avLst/>
          </a:prstGeom>
          <a:solidFill>
            <a:srgbClr val="3AAFA9"/>
          </a:solidFill>
          <a:ln/>
        </p:spPr>
        <p:txBody>
          <a:bodyPr/>
          <a:lstStyle/>
          <a:p>
            <a:endParaRPr lang="es-SV"/>
          </a:p>
        </p:txBody>
      </p:sp>
      <p:sp>
        <p:nvSpPr>
          <p:cNvPr id="10" name="Text 8"/>
          <p:cNvSpPr/>
          <p:nvPr/>
        </p:nvSpPr>
        <p:spPr>
          <a:xfrm>
            <a:off x="6629400" y="155448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2</a:t>
            </a:r>
            <a:endParaRPr lang="en-US" sz="1540" dirty="0"/>
          </a:p>
        </p:txBody>
      </p:sp>
      <p:sp>
        <p:nvSpPr>
          <p:cNvPr id="11" name="Text 9"/>
          <p:cNvSpPr/>
          <p:nvPr/>
        </p:nvSpPr>
        <p:spPr>
          <a:xfrm>
            <a:off x="7315200" y="1481328"/>
            <a:ext cx="4160520" cy="457200"/>
          </a:xfrm>
          <a:prstGeom prst="rect">
            <a:avLst/>
          </a:prstGeom>
          <a:noFill/>
          <a:ln/>
        </p:spPr>
        <p:txBody>
          <a:bodyPr wrap="square" rtlCol="0" anchor="ctr"/>
          <a:lstStyle/>
          <a:p>
            <a:pPr marL="0" indent="0">
              <a:buNone/>
            </a:pPr>
            <a:r>
              <a:rPr lang="en-US" sz="1500" b="1" dirty="0">
                <a:solidFill>
                  <a:srgbClr val="1B1F3B"/>
                </a:solidFill>
                <a:latin typeface="Calibri" pitchFamily="34" charset="0"/>
                <a:ea typeface="Calibri" pitchFamily="34" charset="-122"/>
                <a:cs typeface="Calibri" pitchFamily="34" charset="-120"/>
              </a:rPr>
              <a:t>Eficiencia al escribir</a:t>
            </a:r>
            <a:endParaRPr lang="en-US" sz="1500" dirty="0"/>
          </a:p>
        </p:txBody>
      </p:sp>
      <p:sp>
        <p:nvSpPr>
          <p:cNvPr id="12" name="Text 10"/>
          <p:cNvSpPr/>
          <p:nvPr/>
        </p:nvSpPr>
        <p:spPr>
          <a:xfrm>
            <a:off x="6675120" y="2148840"/>
            <a:ext cx="4709160" cy="1143000"/>
          </a:xfrm>
          <a:prstGeom prst="rect">
            <a:avLst/>
          </a:prstGeom>
          <a:noFill/>
          <a:ln/>
        </p:spPr>
        <p:txBody>
          <a:bodyPr wrap="square" rtlCol="0" anchor="ctr"/>
          <a:lstStyle/>
          <a:p>
            <a:pPr marL="0" indent="0">
              <a:lnSpc>
                <a:spcPct val="120000"/>
              </a:lnSpc>
              <a:buNone/>
            </a:pPr>
            <a:r>
              <a:rPr lang="en-US" sz="1150" dirty="0">
                <a:solidFill>
                  <a:srgbClr val="5B6270"/>
                </a:solidFill>
                <a:latin typeface="Calibri" pitchFamily="34" charset="0"/>
                <a:ea typeface="Calibri" pitchFamily="34" charset="-122"/>
                <a:cs typeface="Calibri" pitchFamily="34" charset="-120"/>
              </a:rPr>
              <a:t>Autocompleta bloques repetitivos: getters/setters, validaciones de formularios, bucles de recorrido de listas.</a:t>
            </a:r>
            <a:endParaRPr lang="en-US" sz="1150" dirty="0"/>
          </a:p>
        </p:txBody>
      </p:sp>
      <p:sp>
        <p:nvSpPr>
          <p:cNvPr id="13" name="Shape 11"/>
          <p:cNvSpPr/>
          <p:nvPr/>
        </p:nvSpPr>
        <p:spPr>
          <a:xfrm>
            <a:off x="548640" y="3611880"/>
            <a:ext cx="5349240" cy="2103120"/>
          </a:xfrm>
          <a:prstGeom prst="roundRect">
            <a:avLst>
              <a:gd name="adj" fmla="val 3043"/>
            </a:avLst>
          </a:prstGeom>
          <a:solidFill>
            <a:srgbClr val="E7F3F2"/>
          </a:solidFill>
          <a:ln/>
        </p:spPr>
        <p:txBody>
          <a:bodyPr/>
          <a:lstStyle/>
          <a:p>
            <a:endParaRPr lang="es-SV"/>
          </a:p>
        </p:txBody>
      </p:sp>
      <p:sp>
        <p:nvSpPr>
          <p:cNvPr id="14" name="Shape 12"/>
          <p:cNvSpPr/>
          <p:nvPr/>
        </p:nvSpPr>
        <p:spPr>
          <a:xfrm>
            <a:off x="822960" y="3886200"/>
            <a:ext cx="502920" cy="502920"/>
          </a:xfrm>
          <a:prstGeom prst="ellipse">
            <a:avLst/>
          </a:prstGeom>
          <a:solidFill>
            <a:srgbClr val="3AAFA9"/>
          </a:solidFill>
          <a:ln/>
        </p:spPr>
        <p:txBody>
          <a:bodyPr/>
          <a:lstStyle/>
          <a:p>
            <a:endParaRPr lang="es-SV"/>
          </a:p>
        </p:txBody>
      </p:sp>
      <p:sp>
        <p:nvSpPr>
          <p:cNvPr id="15" name="Text 13"/>
          <p:cNvSpPr/>
          <p:nvPr/>
        </p:nvSpPr>
        <p:spPr>
          <a:xfrm>
            <a:off x="822960" y="388620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3</a:t>
            </a:r>
            <a:endParaRPr lang="en-US" sz="1540" dirty="0"/>
          </a:p>
        </p:txBody>
      </p:sp>
      <p:sp>
        <p:nvSpPr>
          <p:cNvPr id="16" name="Text 14"/>
          <p:cNvSpPr/>
          <p:nvPr/>
        </p:nvSpPr>
        <p:spPr>
          <a:xfrm>
            <a:off x="1508760" y="3813048"/>
            <a:ext cx="4160520" cy="457200"/>
          </a:xfrm>
          <a:prstGeom prst="rect">
            <a:avLst/>
          </a:prstGeom>
          <a:noFill/>
          <a:ln/>
        </p:spPr>
        <p:txBody>
          <a:bodyPr wrap="square" rtlCol="0" anchor="ctr"/>
          <a:lstStyle/>
          <a:p>
            <a:pPr marL="0" indent="0">
              <a:buNone/>
            </a:pPr>
            <a:r>
              <a:rPr lang="en-US" sz="1500" b="1" dirty="0">
                <a:solidFill>
                  <a:srgbClr val="1B1F3B"/>
                </a:solidFill>
                <a:latin typeface="Calibri" pitchFamily="34" charset="0"/>
                <a:ea typeface="Calibri" pitchFamily="34" charset="-122"/>
                <a:cs typeface="Calibri" pitchFamily="34" charset="-120"/>
              </a:rPr>
              <a:t>Menos tareas repetitivas</a:t>
            </a:r>
            <a:endParaRPr lang="en-US" sz="1500" dirty="0"/>
          </a:p>
        </p:txBody>
      </p:sp>
      <p:sp>
        <p:nvSpPr>
          <p:cNvPr id="17" name="Text 15"/>
          <p:cNvSpPr/>
          <p:nvPr/>
        </p:nvSpPr>
        <p:spPr>
          <a:xfrm>
            <a:off x="868680" y="4480560"/>
            <a:ext cx="4709160" cy="1143000"/>
          </a:xfrm>
          <a:prstGeom prst="rect">
            <a:avLst/>
          </a:prstGeom>
          <a:noFill/>
          <a:ln/>
        </p:spPr>
        <p:txBody>
          <a:bodyPr wrap="square" rtlCol="0" anchor="ctr"/>
          <a:lstStyle/>
          <a:p>
            <a:pPr marL="0" indent="0">
              <a:lnSpc>
                <a:spcPct val="120000"/>
              </a:lnSpc>
              <a:buNone/>
            </a:pPr>
            <a:r>
              <a:rPr lang="en-US" sz="1150" dirty="0">
                <a:solidFill>
                  <a:srgbClr val="5B6270"/>
                </a:solidFill>
                <a:latin typeface="Calibri" pitchFamily="34" charset="0"/>
                <a:ea typeface="Calibri" pitchFamily="34" charset="-122"/>
                <a:cs typeface="Calibri" pitchFamily="34" charset="-120"/>
              </a:rPr>
              <a:t>Reduce el tiempo dedicado a código boilerplate, dejando más tiempo para el diseño de la lógica del negocio.</a:t>
            </a:r>
            <a:endParaRPr lang="en-US" sz="1150" dirty="0"/>
          </a:p>
        </p:txBody>
      </p:sp>
      <p:sp>
        <p:nvSpPr>
          <p:cNvPr id="18" name="Shape 16"/>
          <p:cNvSpPr/>
          <p:nvPr/>
        </p:nvSpPr>
        <p:spPr>
          <a:xfrm>
            <a:off x="6355080" y="3611880"/>
            <a:ext cx="5349240" cy="2103120"/>
          </a:xfrm>
          <a:prstGeom prst="roundRect">
            <a:avLst>
              <a:gd name="adj" fmla="val 3043"/>
            </a:avLst>
          </a:prstGeom>
          <a:solidFill>
            <a:srgbClr val="E7F3F2"/>
          </a:solidFill>
          <a:ln/>
        </p:spPr>
        <p:txBody>
          <a:bodyPr/>
          <a:lstStyle/>
          <a:p>
            <a:endParaRPr lang="es-SV"/>
          </a:p>
        </p:txBody>
      </p:sp>
      <p:sp>
        <p:nvSpPr>
          <p:cNvPr id="19" name="Shape 17"/>
          <p:cNvSpPr/>
          <p:nvPr/>
        </p:nvSpPr>
        <p:spPr>
          <a:xfrm>
            <a:off x="6629400" y="3886200"/>
            <a:ext cx="502920" cy="502920"/>
          </a:xfrm>
          <a:prstGeom prst="ellipse">
            <a:avLst/>
          </a:prstGeom>
          <a:solidFill>
            <a:srgbClr val="3AAFA9"/>
          </a:solidFill>
          <a:ln/>
        </p:spPr>
        <p:txBody>
          <a:bodyPr/>
          <a:lstStyle/>
          <a:p>
            <a:endParaRPr lang="es-SV"/>
          </a:p>
        </p:txBody>
      </p:sp>
      <p:sp>
        <p:nvSpPr>
          <p:cNvPr id="20" name="Text 18"/>
          <p:cNvSpPr/>
          <p:nvPr/>
        </p:nvSpPr>
        <p:spPr>
          <a:xfrm>
            <a:off x="6629400" y="388620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4</a:t>
            </a:r>
            <a:endParaRPr lang="en-US" sz="1540" dirty="0"/>
          </a:p>
        </p:txBody>
      </p:sp>
      <p:sp>
        <p:nvSpPr>
          <p:cNvPr id="21" name="Text 19"/>
          <p:cNvSpPr/>
          <p:nvPr/>
        </p:nvSpPr>
        <p:spPr>
          <a:xfrm>
            <a:off x="7315200" y="3813048"/>
            <a:ext cx="4160520" cy="457200"/>
          </a:xfrm>
          <a:prstGeom prst="rect">
            <a:avLst/>
          </a:prstGeom>
          <a:noFill/>
          <a:ln/>
        </p:spPr>
        <p:txBody>
          <a:bodyPr wrap="square" rtlCol="0" anchor="ctr"/>
          <a:lstStyle/>
          <a:p>
            <a:pPr marL="0" indent="0">
              <a:buNone/>
            </a:pPr>
            <a:r>
              <a:rPr lang="en-US" sz="1500" b="1" dirty="0">
                <a:solidFill>
                  <a:srgbClr val="1B1F3B"/>
                </a:solidFill>
                <a:latin typeface="Calibri" pitchFamily="34" charset="0"/>
                <a:ea typeface="Calibri" pitchFamily="34" charset="-122"/>
                <a:cs typeface="Calibri" pitchFamily="34" charset="-120"/>
              </a:rPr>
              <a:t>Apoyo en depuración</a:t>
            </a:r>
            <a:endParaRPr lang="en-US" sz="1500" dirty="0"/>
          </a:p>
        </p:txBody>
      </p:sp>
      <p:sp>
        <p:nvSpPr>
          <p:cNvPr id="22" name="Text 20"/>
          <p:cNvSpPr/>
          <p:nvPr/>
        </p:nvSpPr>
        <p:spPr>
          <a:xfrm>
            <a:off x="6675120" y="4480560"/>
            <a:ext cx="4709160" cy="1143000"/>
          </a:xfrm>
          <a:prstGeom prst="rect">
            <a:avLst/>
          </a:prstGeom>
          <a:noFill/>
          <a:ln/>
        </p:spPr>
        <p:txBody>
          <a:bodyPr wrap="square" rtlCol="0" anchor="ctr"/>
          <a:lstStyle/>
          <a:p>
            <a:pPr marL="0" indent="0">
              <a:lnSpc>
                <a:spcPct val="120000"/>
              </a:lnSpc>
              <a:buNone/>
            </a:pPr>
            <a:r>
              <a:rPr lang="en-US" sz="1150" dirty="0">
                <a:solidFill>
                  <a:srgbClr val="5B6270"/>
                </a:solidFill>
                <a:latin typeface="Calibri" pitchFamily="34" charset="0"/>
                <a:ea typeface="Calibri" pitchFamily="34" charset="-122"/>
                <a:cs typeface="Calibri" pitchFamily="34" charset="-120"/>
              </a:rPr>
              <a:t>Puede sugerir explicaciones de errores y posibles causas al analizar el código y los mensajes de excepción.</a:t>
            </a:r>
            <a:endParaRPr lang="en-US" sz="1150" dirty="0"/>
          </a:p>
        </p:txBody>
      </p:sp>
      <p:sp>
        <p:nvSpPr>
          <p:cNvPr id="23" name="Text 21"/>
          <p:cNvSpPr/>
          <p:nvPr/>
        </p:nvSpPr>
        <p:spPr>
          <a:xfrm>
            <a:off x="457200" y="6537960"/>
            <a:ext cx="4572000" cy="274320"/>
          </a:xfrm>
          <a:prstGeom prst="rect">
            <a:avLst/>
          </a:prstGeom>
          <a:noFill/>
          <a:ln/>
        </p:spPr>
        <p:txBody>
          <a:bodyPr wrap="square" rtlCol="0" anchor="ctr"/>
          <a:lstStyle/>
          <a:p>
            <a:pPr marL="0" indent="0">
              <a:buNone/>
            </a:pPr>
            <a:r>
              <a:rPr lang="en-US" sz="900" dirty="0">
                <a:solidFill>
                  <a:srgbClr val="5B6270"/>
                </a:solidFill>
                <a:latin typeface="Calibri" pitchFamily="34" charset="0"/>
                <a:ea typeface="Calibri" pitchFamily="34" charset="-122"/>
                <a:cs typeface="Calibri" pitchFamily="34" charset="-120"/>
              </a:rPr>
              <a:t>GR241968  |  DSP404</a:t>
            </a:r>
            <a:endParaRPr lang="en-US" sz="900" dirty="0"/>
          </a:p>
        </p:txBody>
      </p:sp>
      <p:sp>
        <p:nvSpPr>
          <p:cNvPr id="24" name="Text 22"/>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2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F3B"/>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5. Limitaciones y desafíos de GitHub Copilot</a:t>
            </a:r>
            <a:endParaRPr lang="en-US" sz="2600" dirty="0"/>
          </a:p>
        </p:txBody>
      </p:sp>
      <p:sp>
        <p:nvSpPr>
          <p:cNvPr id="3" name="Shape 1"/>
          <p:cNvSpPr/>
          <p:nvPr/>
        </p:nvSpPr>
        <p:spPr>
          <a:xfrm>
            <a:off x="548640" y="1371600"/>
            <a:ext cx="54864" cy="1051560"/>
          </a:xfrm>
          <a:prstGeom prst="rect">
            <a:avLst/>
          </a:prstGeom>
          <a:solidFill>
            <a:srgbClr val="FFC857"/>
          </a:solidFill>
          <a:ln/>
        </p:spPr>
        <p:txBody>
          <a:bodyPr/>
          <a:lstStyle/>
          <a:p>
            <a:endParaRPr lang="es-SV"/>
          </a:p>
        </p:txBody>
      </p:sp>
      <p:sp>
        <p:nvSpPr>
          <p:cNvPr id="4" name="Text 2"/>
          <p:cNvSpPr/>
          <p:nvPr/>
        </p:nvSpPr>
        <p:spPr>
          <a:xfrm>
            <a:off x="777240" y="1353312"/>
            <a:ext cx="3291840" cy="1051560"/>
          </a:xfrm>
          <a:prstGeom prst="rect">
            <a:avLst/>
          </a:prstGeom>
          <a:noFill/>
          <a:ln/>
        </p:spPr>
        <p:txBody>
          <a:bodyPr wrap="square" rtlCol="0" anchor="ctr"/>
          <a:lstStyle/>
          <a:p>
            <a:pPr marL="0" indent="0">
              <a:buNone/>
            </a:pPr>
            <a:r>
              <a:rPr lang="en-US" sz="1400" b="1" dirty="0">
                <a:solidFill>
                  <a:srgbClr val="FFC857"/>
                </a:solidFill>
                <a:latin typeface="Calibri" pitchFamily="34" charset="0"/>
                <a:ea typeface="Calibri" pitchFamily="34" charset="-122"/>
                <a:cs typeface="Calibri" pitchFamily="34" charset="-120"/>
              </a:rPr>
              <a:t>Dependencia excesiva</a:t>
            </a:r>
            <a:endParaRPr lang="en-US" sz="1400" dirty="0"/>
          </a:p>
        </p:txBody>
      </p:sp>
      <p:sp>
        <p:nvSpPr>
          <p:cNvPr id="5" name="Text 3"/>
          <p:cNvSpPr/>
          <p:nvPr/>
        </p:nvSpPr>
        <p:spPr>
          <a:xfrm>
            <a:off x="4206240" y="1353312"/>
            <a:ext cx="7406640" cy="1051560"/>
          </a:xfrm>
          <a:prstGeom prst="rect">
            <a:avLst/>
          </a:prstGeom>
          <a:noFill/>
          <a:ln/>
        </p:spPr>
        <p:txBody>
          <a:bodyPr wrap="square" rtlCol="0" anchor="ctr"/>
          <a:lstStyle/>
          <a:p>
            <a:pPr marL="0" indent="0">
              <a:lnSpc>
                <a:spcPct val="120000"/>
              </a:lnSpc>
              <a:buNone/>
            </a:pPr>
            <a:r>
              <a:rPr lang="en-US" sz="1200" dirty="0">
                <a:solidFill>
                  <a:srgbClr val="E7F3F2"/>
                </a:solidFill>
                <a:latin typeface="Calibri" pitchFamily="34" charset="0"/>
                <a:ea typeface="Calibri" pitchFamily="34" charset="-122"/>
                <a:cs typeface="Calibri" pitchFamily="34" charset="-120"/>
              </a:rPr>
              <a:t>El uso constante puede frenar el desarrollo de habilidades propias de programación, sobre todo en estudiantes o desarrolladores novatos.</a:t>
            </a:r>
            <a:endParaRPr lang="en-US" sz="1200" dirty="0"/>
          </a:p>
        </p:txBody>
      </p:sp>
      <p:sp>
        <p:nvSpPr>
          <p:cNvPr id="6" name="Shape 4"/>
          <p:cNvSpPr/>
          <p:nvPr/>
        </p:nvSpPr>
        <p:spPr>
          <a:xfrm>
            <a:off x="548640" y="2560320"/>
            <a:ext cx="54864" cy="1051560"/>
          </a:xfrm>
          <a:prstGeom prst="rect">
            <a:avLst/>
          </a:prstGeom>
          <a:solidFill>
            <a:srgbClr val="FFC857"/>
          </a:solidFill>
          <a:ln/>
        </p:spPr>
        <p:txBody>
          <a:bodyPr/>
          <a:lstStyle/>
          <a:p>
            <a:endParaRPr lang="es-SV"/>
          </a:p>
        </p:txBody>
      </p:sp>
      <p:sp>
        <p:nvSpPr>
          <p:cNvPr id="7" name="Text 5"/>
          <p:cNvSpPr/>
          <p:nvPr/>
        </p:nvSpPr>
        <p:spPr>
          <a:xfrm>
            <a:off x="777240" y="2542032"/>
            <a:ext cx="3291840" cy="1051560"/>
          </a:xfrm>
          <a:prstGeom prst="rect">
            <a:avLst/>
          </a:prstGeom>
          <a:noFill/>
          <a:ln/>
        </p:spPr>
        <p:txBody>
          <a:bodyPr wrap="square" rtlCol="0" anchor="ctr"/>
          <a:lstStyle/>
          <a:p>
            <a:pPr marL="0" indent="0">
              <a:buNone/>
            </a:pPr>
            <a:r>
              <a:rPr lang="en-US" sz="1400" b="1" dirty="0">
                <a:solidFill>
                  <a:srgbClr val="FFC857"/>
                </a:solidFill>
                <a:latin typeface="Calibri" pitchFamily="34" charset="0"/>
                <a:ea typeface="Calibri" pitchFamily="34" charset="-122"/>
                <a:cs typeface="Calibri" pitchFamily="34" charset="-120"/>
              </a:rPr>
              <a:t>Seguridad y privacidad</a:t>
            </a:r>
            <a:endParaRPr lang="en-US" sz="1400" dirty="0"/>
          </a:p>
        </p:txBody>
      </p:sp>
      <p:sp>
        <p:nvSpPr>
          <p:cNvPr id="8" name="Text 6"/>
          <p:cNvSpPr/>
          <p:nvPr/>
        </p:nvSpPr>
        <p:spPr>
          <a:xfrm>
            <a:off x="4206240" y="2542032"/>
            <a:ext cx="7406640" cy="1051560"/>
          </a:xfrm>
          <a:prstGeom prst="rect">
            <a:avLst/>
          </a:prstGeom>
          <a:noFill/>
          <a:ln/>
        </p:spPr>
        <p:txBody>
          <a:bodyPr wrap="square" rtlCol="0" anchor="ctr"/>
          <a:lstStyle/>
          <a:p>
            <a:pPr marL="0" indent="0">
              <a:lnSpc>
                <a:spcPct val="120000"/>
              </a:lnSpc>
              <a:buNone/>
            </a:pPr>
            <a:r>
              <a:rPr lang="en-US" sz="1200" dirty="0">
                <a:solidFill>
                  <a:srgbClr val="E7F3F2"/>
                </a:solidFill>
                <a:latin typeface="Calibri" pitchFamily="34" charset="0"/>
                <a:ea typeface="Calibri" pitchFamily="34" charset="-122"/>
                <a:cs typeface="Calibri" pitchFamily="34" charset="-120"/>
              </a:rPr>
              <a:t>Un estudio de IEEE Security &amp; Privacy encontró que un porcentaje relevante de las sugerencias de Copilot reproducía patrones de código con vulnerabilidades conocidas [2].</a:t>
            </a:r>
            <a:endParaRPr lang="en-US" sz="1200" dirty="0"/>
          </a:p>
        </p:txBody>
      </p:sp>
      <p:sp>
        <p:nvSpPr>
          <p:cNvPr id="9" name="Shape 7"/>
          <p:cNvSpPr/>
          <p:nvPr/>
        </p:nvSpPr>
        <p:spPr>
          <a:xfrm>
            <a:off x="548640" y="3749040"/>
            <a:ext cx="54864" cy="1051560"/>
          </a:xfrm>
          <a:prstGeom prst="rect">
            <a:avLst/>
          </a:prstGeom>
          <a:solidFill>
            <a:srgbClr val="FFC857"/>
          </a:solidFill>
          <a:ln/>
        </p:spPr>
        <p:txBody>
          <a:bodyPr/>
          <a:lstStyle/>
          <a:p>
            <a:endParaRPr lang="es-SV"/>
          </a:p>
        </p:txBody>
      </p:sp>
      <p:sp>
        <p:nvSpPr>
          <p:cNvPr id="10" name="Text 8"/>
          <p:cNvSpPr/>
          <p:nvPr/>
        </p:nvSpPr>
        <p:spPr>
          <a:xfrm>
            <a:off x="777240" y="3730752"/>
            <a:ext cx="3291840" cy="1051560"/>
          </a:xfrm>
          <a:prstGeom prst="rect">
            <a:avLst/>
          </a:prstGeom>
          <a:noFill/>
          <a:ln/>
        </p:spPr>
        <p:txBody>
          <a:bodyPr wrap="square" rtlCol="0" anchor="ctr"/>
          <a:lstStyle/>
          <a:p>
            <a:pPr marL="0" indent="0">
              <a:buNone/>
            </a:pPr>
            <a:r>
              <a:rPr lang="en-US" sz="1400" b="1" dirty="0">
                <a:solidFill>
                  <a:srgbClr val="FFC857"/>
                </a:solidFill>
                <a:latin typeface="Calibri" pitchFamily="34" charset="0"/>
                <a:ea typeface="Calibri" pitchFamily="34" charset="-122"/>
                <a:cs typeface="Calibri" pitchFamily="34" charset="-120"/>
              </a:rPr>
              <a:t>Calidad de las sugerencias</a:t>
            </a:r>
            <a:endParaRPr lang="en-US" sz="1400" dirty="0"/>
          </a:p>
        </p:txBody>
      </p:sp>
      <p:sp>
        <p:nvSpPr>
          <p:cNvPr id="11" name="Text 9"/>
          <p:cNvSpPr/>
          <p:nvPr/>
        </p:nvSpPr>
        <p:spPr>
          <a:xfrm>
            <a:off x="4206240" y="3730752"/>
            <a:ext cx="7406640" cy="1051560"/>
          </a:xfrm>
          <a:prstGeom prst="rect">
            <a:avLst/>
          </a:prstGeom>
          <a:noFill/>
          <a:ln/>
        </p:spPr>
        <p:txBody>
          <a:bodyPr wrap="square" rtlCol="0" anchor="ctr"/>
          <a:lstStyle/>
          <a:p>
            <a:pPr marL="0" indent="0">
              <a:lnSpc>
                <a:spcPct val="120000"/>
              </a:lnSpc>
              <a:buNone/>
            </a:pPr>
            <a:r>
              <a:rPr lang="en-US" sz="1200" dirty="0">
                <a:solidFill>
                  <a:srgbClr val="E7F3F2"/>
                </a:solidFill>
                <a:latin typeface="Calibri" pitchFamily="34" charset="0"/>
                <a:ea typeface="Calibri" pitchFamily="34" charset="-122"/>
                <a:cs typeface="Calibri" pitchFamily="34" charset="-120"/>
              </a:rPr>
              <a:t>La corrección de las soluciones varía según la dificultad del problema; en tareas complejas, Copilot entiende peor los requisitos detallados del enunciado [1].</a:t>
            </a:r>
            <a:endParaRPr lang="en-US" sz="1200" dirty="0"/>
          </a:p>
        </p:txBody>
      </p:sp>
      <p:sp>
        <p:nvSpPr>
          <p:cNvPr id="12" name="Shape 10"/>
          <p:cNvSpPr/>
          <p:nvPr/>
        </p:nvSpPr>
        <p:spPr>
          <a:xfrm>
            <a:off x="548640" y="4937760"/>
            <a:ext cx="54864" cy="1051560"/>
          </a:xfrm>
          <a:prstGeom prst="rect">
            <a:avLst/>
          </a:prstGeom>
          <a:solidFill>
            <a:srgbClr val="FFC857"/>
          </a:solidFill>
          <a:ln/>
        </p:spPr>
        <p:txBody>
          <a:bodyPr/>
          <a:lstStyle/>
          <a:p>
            <a:endParaRPr lang="es-SV"/>
          </a:p>
        </p:txBody>
      </p:sp>
      <p:sp>
        <p:nvSpPr>
          <p:cNvPr id="13" name="Text 11"/>
          <p:cNvSpPr/>
          <p:nvPr/>
        </p:nvSpPr>
        <p:spPr>
          <a:xfrm>
            <a:off x="777240" y="4919472"/>
            <a:ext cx="3291840" cy="1051560"/>
          </a:xfrm>
          <a:prstGeom prst="rect">
            <a:avLst/>
          </a:prstGeom>
          <a:noFill/>
          <a:ln/>
        </p:spPr>
        <p:txBody>
          <a:bodyPr wrap="square" rtlCol="0" anchor="ctr"/>
          <a:lstStyle/>
          <a:p>
            <a:pPr marL="0" indent="0">
              <a:buNone/>
            </a:pPr>
            <a:r>
              <a:rPr lang="en-US" sz="1400" b="1" dirty="0">
                <a:solidFill>
                  <a:srgbClr val="FFC857"/>
                </a:solidFill>
                <a:latin typeface="Calibri" pitchFamily="34" charset="0"/>
                <a:ea typeface="Calibri" pitchFamily="34" charset="-122"/>
                <a:cs typeface="Calibri" pitchFamily="34" charset="-120"/>
              </a:rPr>
              <a:t>Percepción de la comunidad</a:t>
            </a:r>
            <a:endParaRPr lang="en-US" sz="1400" dirty="0"/>
          </a:p>
        </p:txBody>
      </p:sp>
      <p:sp>
        <p:nvSpPr>
          <p:cNvPr id="14" name="Text 12"/>
          <p:cNvSpPr/>
          <p:nvPr/>
        </p:nvSpPr>
        <p:spPr>
          <a:xfrm>
            <a:off x="4206240" y="4919472"/>
            <a:ext cx="7406640" cy="1051560"/>
          </a:xfrm>
          <a:prstGeom prst="rect">
            <a:avLst/>
          </a:prstGeom>
          <a:noFill/>
          <a:ln/>
        </p:spPr>
        <p:txBody>
          <a:bodyPr wrap="square" rtlCol="0" anchor="ctr"/>
          <a:lstStyle/>
          <a:p>
            <a:pPr marL="0" indent="0">
              <a:lnSpc>
                <a:spcPct val="120000"/>
              </a:lnSpc>
              <a:buNone/>
            </a:pPr>
            <a:r>
              <a:rPr lang="en-US" sz="1200" dirty="0">
                <a:solidFill>
                  <a:srgbClr val="E7F3F2"/>
                </a:solidFill>
                <a:latin typeface="Calibri" pitchFamily="34" charset="0"/>
                <a:ea typeface="Calibri" pitchFamily="34" charset="-122"/>
                <a:cs typeface="Calibri" pitchFamily="34" charset="-120"/>
              </a:rPr>
              <a:t>Existen críticas relacionadas con la procedencia del código de entrenamiento y su relación con las licencias de los repositorios originales.</a:t>
            </a:r>
            <a:endParaRPr lang="en-US" sz="1200" dirty="0"/>
          </a:p>
        </p:txBody>
      </p:sp>
      <p:sp>
        <p:nvSpPr>
          <p:cNvPr id="15" name="Text 13"/>
          <p:cNvSpPr/>
          <p:nvPr/>
        </p:nvSpPr>
        <p:spPr>
          <a:xfrm>
            <a:off x="457200" y="6537960"/>
            <a:ext cx="4572000" cy="274320"/>
          </a:xfrm>
          <a:prstGeom prst="rect">
            <a:avLst/>
          </a:prstGeom>
          <a:noFill/>
          <a:ln/>
        </p:spPr>
        <p:txBody>
          <a:bodyPr wrap="square" rtlCol="0" anchor="ctr"/>
          <a:lstStyle/>
          <a:p>
            <a:pPr marL="0" indent="0">
              <a:buNone/>
            </a:pPr>
            <a:r>
              <a:rPr lang="en-US" sz="900" dirty="0">
                <a:solidFill>
                  <a:srgbClr val="E7F3F2"/>
                </a:solidFill>
                <a:latin typeface="Calibri" pitchFamily="34" charset="0"/>
                <a:ea typeface="Calibri" pitchFamily="34" charset="-122"/>
                <a:cs typeface="Calibri" pitchFamily="34" charset="-120"/>
              </a:rPr>
              <a:t>GR241968  |  DSP404</a:t>
            </a:r>
            <a:endParaRPr lang="en-US" sz="900" dirty="0"/>
          </a:p>
        </p:txBody>
      </p:sp>
      <p:sp>
        <p:nvSpPr>
          <p:cNvPr id="16" name="Text 14"/>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E7F3F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548640"/>
          </a:xfrm>
          <a:prstGeom prst="rect">
            <a:avLst/>
          </a:prstGeom>
          <a:noFill/>
          <a:ln/>
        </p:spPr>
        <p:txBody>
          <a:bodyPr wrap="square" rtlCol="0" anchor="ctr"/>
          <a:lstStyle/>
          <a:p>
            <a:pPr marL="0" indent="0">
              <a:buNone/>
            </a:pPr>
            <a:r>
              <a:rPr lang="en-US" sz="2600" b="1" dirty="0">
                <a:solidFill>
                  <a:srgbClr val="1B1F3B"/>
                </a:solidFill>
                <a:latin typeface="Cambria" pitchFamily="34" charset="0"/>
                <a:ea typeface="Cambria" pitchFamily="34" charset="-122"/>
                <a:cs typeface="Cambria" pitchFamily="34" charset="-120"/>
              </a:rPr>
              <a:t>6. Comparación con otras herramientas similares</a:t>
            </a:r>
            <a:endParaRPr lang="en-US" sz="2600" dirty="0"/>
          </a:p>
        </p:txBody>
      </p:sp>
      <p:sp>
        <p:nvSpPr>
          <p:cNvPr id="3" name="Shape 1"/>
          <p:cNvSpPr/>
          <p:nvPr/>
        </p:nvSpPr>
        <p:spPr>
          <a:xfrm>
            <a:off x="548640" y="1143000"/>
            <a:ext cx="11109960" cy="457200"/>
          </a:xfrm>
          <a:prstGeom prst="rect">
            <a:avLst/>
          </a:prstGeom>
          <a:solidFill>
            <a:srgbClr val="1B1F3B"/>
          </a:solidFill>
          <a:ln/>
        </p:spPr>
        <p:txBody>
          <a:bodyPr/>
          <a:lstStyle/>
          <a:p>
            <a:endParaRPr lang="es-SV"/>
          </a:p>
        </p:txBody>
      </p:sp>
      <p:sp>
        <p:nvSpPr>
          <p:cNvPr id="4" name="Text 2"/>
          <p:cNvSpPr/>
          <p:nvPr/>
        </p:nvSpPr>
        <p:spPr>
          <a:xfrm>
            <a:off x="548640" y="1143000"/>
            <a:ext cx="260604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Herramienta</a:t>
            </a:r>
            <a:endParaRPr lang="en-US" sz="1200" dirty="0"/>
          </a:p>
        </p:txBody>
      </p:sp>
      <p:sp>
        <p:nvSpPr>
          <p:cNvPr id="5" name="Text 3"/>
          <p:cNvSpPr/>
          <p:nvPr/>
        </p:nvSpPr>
        <p:spPr>
          <a:xfrm>
            <a:off x="3246120" y="1143000"/>
            <a:ext cx="356616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Motor / enfoque</a:t>
            </a:r>
            <a:endParaRPr lang="en-US" sz="1200" dirty="0"/>
          </a:p>
        </p:txBody>
      </p:sp>
      <p:sp>
        <p:nvSpPr>
          <p:cNvPr id="6" name="Text 4"/>
          <p:cNvSpPr/>
          <p:nvPr/>
        </p:nvSpPr>
        <p:spPr>
          <a:xfrm>
            <a:off x="6903720" y="1143000"/>
            <a:ext cx="246888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Integración .NET</a:t>
            </a:r>
            <a:endParaRPr lang="en-US" sz="1200" dirty="0"/>
          </a:p>
        </p:txBody>
      </p:sp>
      <p:sp>
        <p:nvSpPr>
          <p:cNvPr id="7" name="Text 5"/>
          <p:cNvSpPr/>
          <p:nvPr/>
        </p:nvSpPr>
        <p:spPr>
          <a:xfrm>
            <a:off x="9464040" y="1143000"/>
            <a:ext cx="219456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Punto fuerte</a:t>
            </a:r>
            <a:endParaRPr lang="en-US" sz="1200" dirty="0"/>
          </a:p>
        </p:txBody>
      </p:sp>
      <p:sp>
        <p:nvSpPr>
          <p:cNvPr id="8" name="Shape 6"/>
          <p:cNvSpPr/>
          <p:nvPr/>
        </p:nvSpPr>
        <p:spPr>
          <a:xfrm>
            <a:off x="548640" y="1600200"/>
            <a:ext cx="11109960" cy="795528"/>
          </a:xfrm>
          <a:prstGeom prst="rect">
            <a:avLst/>
          </a:prstGeom>
          <a:solidFill>
            <a:srgbClr val="E7F3F2"/>
          </a:solidFill>
          <a:ln/>
        </p:spPr>
        <p:txBody>
          <a:bodyPr/>
          <a:lstStyle/>
          <a:p>
            <a:endParaRPr lang="es-SV"/>
          </a:p>
        </p:txBody>
      </p:sp>
      <p:sp>
        <p:nvSpPr>
          <p:cNvPr id="9" name="Text 7"/>
          <p:cNvSpPr/>
          <p:nvPr/>
        </p:nvSpPr>
        <p:spPr>
          <a:xfrm>
            <a:off x="594360" y="1600200"/>
            <a:ext cx="2514600" cy="795528"/>
          </a:xfrm>
          <a:prstGeom prst="rect">
            <a:avLst/>
          </a:prstGeom>
          <a:noFill/>
          <a:ln/>
        </p:spPr>
        <p:txBody>
          <a:bodyPr wrap="square" rtlCol="0" anchor="ctr"/>
          <a:lstStyle/>
          <a:p>
            <a:pPr marL="0" indent="0">
              <a:buNone/>
            </a:pPr>
            <a:r>
              <a:rPr lang="en-US" sz="1050" b="1" dirty="0">
                <a:solidFill>
                  <a:srgbClr val="1B1F3B"/>
                </a:solidFill>
                <a:latin typeface="Calibri" pitchFamily="34" charset="0"/>
                <a:ea typeface="Calibri" pitchFamily="34" charset="-122"/>
                <a:cs typeface="Calibri" pitchFamily="34" charset="-120"/>
              </a:rPr>
              <a:t>GitHub Copilot</a:t>
            </a:r>
            <a:endParaRPr lang="en-US" sz="1050" dirty="0"/>
          </a:p>
        </p:txBody>
      </p:sp>
      <p:sp>
        <p:nvSpPr>
          <p:cNvPr id="10" name="Text 8"/>
          <p:cNvSpPr/>
          <p:nvPr/>
        </p:nvSpPr>
        <p:spPr>
          <a:xfrm>
            <a:off x="3291840" y="1600200"/>
            <a:ext cx="3474720" cy="795528"/>
          </a:xfrm>
          <a:prstGeom prst="rect">
            <a:avLst/>
          </a:prstGeom>
          <a:noFill/>
          <a:ln/>
        </p:spPr>
        <p:txBody>
          <a:bodyPr wrap="square" rtlCol="0" anchor="ctr"/>
          <a:lstStyle/>
          <a:p>
            <a:pPr marL="0" indent="0">
              <a:buNone/>
            </a:pPr>
            <a:r>
              <a:rPr lang="en-US" sz="1050" dirty="0">
                <a:solidFill>
                  <a:srgbClr val="5B6270"/>
                </a:solidFill>
                <a:latin typeface="Calibri" pitchFamily="34" charset="0"/>
                <a:ea typeface="Calibri" pitchFamily="34" charset="-122"/>
                <a:cs typeface="Calibri" pitchFamily="34" charset="-120"/>
              </a:rPr>
              <a:t>Modelos de OpenAI (familia GPT/Codex)</a:t>
            </a:r>
            <a:endParaRPr lang="en-US" sz="1050" dirty="0"/>
          </a:p>
        </p:txBody>
      </p:sp>
      <p:sp>
        <p:nvSpPr>
          <p:cNvPr id="11" name="Text 9"/>
          <p:cNvSpPr/>
          <p:nvPr/>
        </p:nvSpPr>
        <p:spPr>
          <a:xfrm>
            <a:off x="6949440" y="1600200"/>
            <a:ext cx="2377440" cy="795528"/>
          </a:xfrm>
          <a:prstGeom prst="rect">
            <a:avLst/>
          </a:prstGeom>
          <a:noFill/>
          <a:ln/>
        </p:spPr>
        <p:txBody>
          <a:bodyPr wrap="square" rtlCol="0" anchor="ctr"/>
          <a:lstStyle/>
          <a:p>
            <a:pPr marL="0" indent="0">
              <a:buNone/>
            </a:pPr>
            <a:r>
              <a:rPr lang="en-US" sz="1050" dirty="0">
                <a:solidFill>
                  <a:srgbClr val="5B6270"/>
                </a:solidFill>
                <a:latin typeface="Calibri" pitchFamily="34" charset="0"/>
                <a:ea typeface="Calibri" pitchFamily="34" charset="-122"/>
                <a:cs typeface="Calibri" pitchFamily="34" charset="-120"/>
              </a:rPr>
              <a:t>VS 2022, VS Code, JetBrains</a:t>
            </a:r>
            <a:endParaRPr lang="en-US" sz="1050" dirty="0"/>
          </a:p>
        </p:txBody>
      </p:sp>
      <p:sp>
        <p:nvSpPr>
          <p:cNvPr id="12" name="Text 10"/>
          <p:cNvSpPr/>
          <p:nvPr/>
        </p:nvSpPr>
        <p:spPr>
          <a:xfrm>
            <a:off x="9509760" y="1600200"/>
            <a:ext cx="2103120" cy="795528"/>
          </a:xfrm>
          <a:prstGeom prst="rect">
            <a:avLst/>
          </a:prstGeom>
          <a:noFill/>
          <a:ln/>
        </p:spPr>
        <p:txBody>
          <a:bodyPr wrap="square" rtlCol="0" anchor="ctr"/>
          <a:lstStyle/>
          <a:p>
            <a:pPr marL="0" indent="0">
              <a:buNone/>
            </a:pPr>
            <a:r>
              <a:rPr lang="en-US" sz="1050" dirty="0">
                <a:solidFill>
                  <a:srgbClr val="5B6270"/>
                </a:solidFill>
                <a:latin typeface="Calibri" pitchFamily="34" charset="0"/>
                <a:ea typeface="Calibri" pitchFamily="34" charset="-122"/>
                <a:cs typeface="Calibri" pitchFamily="34" charset="-120"/>
              </a:rPr>
              <a:t>Chat + autocompletado contextual</a:t>
            </a:r>
            <a:endParaRPr lang="en-US" sz="1050" dirty="0"/>
          </a:p>
        </p:txBody>
      </p:sp>
      <p:sp>
        <p:nvSpPr>
          <p:cNvPr id="13" name="Text 11"/>
          <p:cNvSpPr/>
          <p:nvPr/>
        </p:nvSpPr>
        <p:spPr>
          <a:xfrm>
            <a:off x="594360" y="2395728"/>
            <a:ext cx="2514600" cy="795528"/>
          </a:xfrm>
          <a:prstGeom prst="rect">
            <a:avLst/>
          </a:prstGeom>
          <a:noFill/>
          <a:ln/>
        </p:spPr>
        <p:txBody>
          <a:bodyPr wrap="square" rtlCol="0" anchor="ctr"/>
          <a:lstStyle/>
          <a:p>
            <a:pPr marL="0" indent="0">
              <a:buNone/>
            </a:pPr>
            <a:r>
              <a:rPr lang="en-US" sz="1050" b="1" dirty="0">
                <a:solidFill>
                  <a:srgbClr val="1B1F3B"/>
                </a:solidFill>
                <a:latin typeface="Calibri" pitchFamily="34" charset="0"/>
                <a:ea typeface="Calibri" pitchFamily="34" charset="-122"/>
                <a:cs typeface="Calibri" pitchFamily="34" charset="-120"/>
              </a:rPr>
              <a:t>Visual Studio IntelliCode</a:t>
            </a:r>
            <a:endParaRPr lang="en-US" sz="1050" dirty="0"/>
          </a:p>
        </p:txBody>
      </p:sp>
      <p:sp>
        <p:nvSpPr>
          <p:cNvPr id="14" name="Text 12"/>
          <p:cNvSpPr/>
          <p:nvPr/>
        </p:nvSpPr>
        <p:spPr>
          <a:xfrm>
            <a:off x="3291840" y="2395728"/>
            <a:ext cx="3474720" cy="795528"/>
          </a:xfrm>
          <a:prstGeom prst="rect">
            <a:avLst/>
          </a:prstGeom>
          <a:noFill/>
          <a:ln/>
        </p:spPr>
        <p:txBody>
          <a:bodyPr wrap="square" rtlCol="0" anchor="ctr"/>
          <a:lstStyle/>
          <a:p>
            <a:pPr marL="0" indent="0">
              <a:buNone/>
            </a:pPr>
            <a:r>
              <a:rPr lang="en-US" sz="1050" dirty="0">
                <a:solidFill>
                  <a:srgbClr val="5B6270"/>
                </a:solidFill>
                <a:latin typeface="Calibri" pitchFamily="34" charset="0"/>
                <a:ea typeface="Calibri" pitchFamily="34" charset="-122"/>
                <a:cs typeface="Calibri" pitchFamily="34" charset="-120"/>
              </a:rPr>
              <a:t>Modelos entrenados por Microsoft sobre repos abiertos</a:t>
            </a:r>
            <a:endParaRPr lang="en-US" sz="1050" dirty="0"/>
          </a:p>
        </p:txBody>
      </p:sp>
      <p:sp>
        <p:nvSpPr>
          <p:cNvPr id="15" name="Text 13"/>
          <p:cNvSpPr/>
          <p:nvPr/>
        </p:nvSpPr>
        <p:spPr>
          <a:xfrm>
            <a:off x="6949440" y="2395728"/>
            <a:ext cx="2377440" cy="795528"/>
          </a:xfrm>
          <a:prstGeom prst="rect">
            <a:avLst/>
          </a:prstGeom>
          <a:noFill/>
          <a:ln/>
        </p:spPr>
        <p:txBody>
          <a:bodyPr wrap="square" rtlCol="0" anchor="ctr"/>
          <a:lstStyle/>
          <a:p>
            <a:pPr marL="0" indent="0">
              <a:buNone/>
            </a:pPr>
            <a:r>
              <a:rPr lang="en-US" sz="1050" dirty="0">
                <a:solidFill>
                  <a:srgbClr val="5B6270"/>
                </a:solidFill>
                <a:latin typeface="Calibri" pitchFamily="34" charset="0"/>
                <a:ea typeface="Calibri" pitchFamily="34" charset="-122"/>
                <a:cs typeface="Calibri" pitchFamily="34" charset="-120"/>
              </a:rPr>
              <a:t>Nativo en Visual Studio</a:t>
            </a:r>
            <a:endParaRPr lang="en-US" sz="1050" dirty="0"/>
          </a:p>
        </p:txBody>
      </p:sp>
      <p:sp>
        <p:nvSpPr>
          <p:cNvPr id="16" name="Text 14"/>
          <p:cNvSpPr/>
          <p:nvPr/>
        </p:nvSpPr>
        <p:spPr>
          <a:xfrm>
            <a:off x="9509760" y="2395728"/>
            <a:ext cx="2103120" cy="795528"/>
          </a:xfrm>
          <a:prstGeom prst="rect">
            <a:avLst/>
          </a:prstGeom>
          <a:noFill/>
          <a:ln/>
        </p:spPr>
        <p:txBody>
          <a:bodyPr wrap="square" rtlCol="0" anchor="ctr"/>
          <a:lstStyle/>
          <a:p>
            <a:pPr marL="0" indent="0">
              <a:buNone/>
            </a:pPr>
            <a:r>
              <a:rPr lang="en-US" sz="1050" dirty="0">
                <a:solidFill>
                  <a:srgbClr val="5B6270"/>
                </a:solidFill>
                <a:latin typeface="Calibri" pitchFamily="34" charset="0"/>
                <a:ea typeface="Calibri" pitchFamily="34" charset="-122"/>
                <a:cs typeface="Calibri" pitchFamily="34" charset="-120"/>
              </a:rPr>
              <a:t>Sugerencias integradas sin costo extra</a:t>
            </a:r>
            <a:endParaRPr lang="en-US" sz="1050" dirty="0"/>
          </a:p>
        </p:txBody>
      </p:sp>
      <p:sp>
        <p:nvSpPr>
          <p:cNvPr id="17" name="Shape 15"/>
          <p:cNvSpPr/>
          <p:nvPr/>
        </p:nvSpPr>
        <p:spPr>
          <a:xfrm>
            <a:off x="548640" y="3191256"/>
            <a:ext cx="11109960" cy="795528"/>
          </a:xfrm>
          <a:prstGeom prst="rect">
            <a:avLst/>
          </a:prstGeom>
          <a:solidFill>
            <a:srgbClr val="E7F3F2"/>
          </a:solidFill>
          <a:ln/>
        </p:spPr>
        <p:txBody>
          <a:bodyPr/>
          <a:lstStyle/>
          <a:p>
            <a:endParaRPr lang="es-SV"/>
          </a:p>
        </p:txBody>
      </p:sp>
      <p:sp>
        <p:nvSpPr>
          <p:cNvPr id="18" name="Text 16"/>
          <p:cNvSpPr/>
          <p:nvPr/>
        </p:nvSpPr>
        <p:spPr>
          <a:xfrm>
            <a:off x="594360" y="3191256"/>
            <a:ext cx="2514600" cy="795528"/>
          </a:xfrm>
          <a:prstGeom prst="rect">
            <a:avLst/>
          </a:prstGeom>
          <a:noFill/>
          <a:ln/>
        </p:spPr>
        <p:txBody>
          <a:bodyPr wrap="square" rtlCol="0" anchor="ctr"/>
          <a:lstStyle/>
          <a:p>
            <a:pPr marL="0" indent="0">
              <a:buNone/>
            </a:pPr>
            <a:r>
              <a:rPr lang="en-US" sz="1050" b="1" dirty="0">
                <a:solidFill>
                  <a:srgbClr val="1B1F3B"/>
                </a:solidFill>
                <a:latin typeface="Calibri" pitchFamily="34" charset="0"/>
                <a:ea typeface="Calibri" pitchFamily="34" charset="-122"/>
                <a:cs typeface="Calibri" pitchFamily="34" charset="-120"/>
              </a:rPr>
              <a:t>Amazon Q Developer</a:t>
            </a:r>
            <a:endParaRPr lang="en-US" sz="1050" dirty="0"/>
          </a:p>
        </p:txBody>
      </p:sp>
      <p:sp>
        <p:nvSpPr>
          <p:cNvPr id="19" name="Text 17"/>
          <p:cNvSpPr/>
          <p:nvPr/>
        </p:nvSpPr>
        <p:spPr>
          <a:xfrm>
            <a:off x="3291840" y="3191256"/>
            <a:ext cx="3474720" cy="795528"/>
          </a:xfrm>
          <a:prstGeom prst="rect">
            <a:avLst/>
          </a:prstGeom>
          <a:noFill/>
          <a:ln/>
        </p:spPr>
        <p:txBody>
          <a:bodyPr wrap="square" rtlCol="0" anchor="ctr"/>
          <a:lstStyle/>
          <a:p>
            <a:pPr marL="0" indent="0">
              <a:buNone/>
            </a:pPr>
            <a:r>
              <a:rPr lang="en-US" sz="1050" dirty="0">
                <a:solidFill>
                  <a:srgbClr val="5B6270"/>
                </a:solidFill>
                <a:latin typeface="Calibri" pitchFamily="34" charset="0"/>
                <a:ea typeface="Calibri" pitchFamily="34" charset="-122"/>
                <a:cs typeface="Calibri" pitchFamily="34" charset="-120"/>
              </a:rPr>
              <a:t>Modelos de AWS</a:t>
            </a:r>
            <a:endParaRPr lang="en-US" sz="1050" dirty="0"/>
          </a:p>
        </p:txBody>
      </p:sp>
      <p:sp>
        <p:nvSpPr>
          <p:cNvPr id="20" name="Text 18"/>
          <p:cNvSpPr/>
          <p:nvPr/>
        </p:nvSpPr>
        <p:spPr>
          <a:xfrm>
            <a:off x="6949440" y="3191256"/>
            <a:ext cx="2377440" cy="795528"/>
          </a:xfrm>
          <a:prstGeom prst="rect">
            <a:avLst/>
          </a:prstGeom>
          <a:noFill/>
          <a:ln/>
        </p:spPr>
        <p:txBody>
          <a:bodyPr wrap="square" rtlCol="0" anchor="ctr"/>
          <a:lstStyle/>
          <a:p>
            <a:pPr marL="0" indent="0">
              <a:buNone/>
            </a:pPr>
            <a:r>
              <a:rPr lang="en-US" sz="1050" dirty="0">
                <a:solidFill>
                  <a:srgbClr val="5B6270"/>
                </a:solidFill>
                <a:latin typeface="Calibri" pitchFamily="34" charset="0"/>
                <a:ea typeface="Calibri" pitchFamily="34" charset="-122"/>
                <a:cs typeface="Calibri" pitchFamily="34" charset="-120"/>
              </a:rPr>
              <a:t>Extensión para varios IDE</a:t>
            </a:r>
            <a:endParaRPr lang="en-US" sz="1050" dirty="0"/>
          </a:p>
        </p:txBody>
      </p:sp>
      <p:sp>
        <p:nvSpPr>
          <p:cNvPr id="21" name="Text 19"/>
          <p:cNvSpPr/>
          <p:nvPr/>
        </p:nvSpPr>
        <p:spPr>
          <a:xfrm>
            <a:off x="9509760" y="3191256"/>
            <a:ext cx="2103120" cy="795528"/>
          </a:xfrm>
          <a:prstGeom prst="rect">
            <a:avLst/>
          </a:prstGeom>
          <a:noFill/>
          <a:ln/>
        </p:spPr>
        <p:txBody>
          <a:bodyPr wrap="square" rtlCol="0" anchor="ctr"/>
          <a:lstStyle/>
          <a:p>
            <a:pPr marL="0" indent="0">
              <a:buNone/>
            </a:pPr>
            <a:r>
              <a:rPr lang="en-US" sz="1050" dirty="0">
                <a:solidFill>
                  <a:srgbClr val="5B6270"/>
                </a:solidFill>
                <a:latin typeface="Calibri" pitchFamily="34" charset="0"/>
                <a:ea typeface="Calibri" pitchFamily="34" charset="-122"/>
                <a:cs typeface="Calibri" pitchFamily="34" charset="-120"/>
              </a:rPr>
              <a:t>Enfoque en seguridad y servicios AWS</a:t>
            </a:r>
            <a:endParaRPr lang="en-US" sz="1050" dirty="0"/>
          </a:p>
        </p:txBody>
      </p:sp>
      <p:sp>
        <p:nvSpPr>
          <p:cNvPr id="22" name="Text 20"/>
          <p:cNvSpPr/>
          <p:nvPr/>
        </p:nvSpPr>
        <p:spPr>
          <a:xfrm>
            <a:off x="594360" y="3986784"/>
            <a:ext cx="2514600" cy="795528"/>
          </a:xfrm>
          <a:prstGeom prst="rect">
            <a:avLst/>
          </a:prstGeom>
          <a:noFill/>
          <a:ln/>
        </p:spPr>
        <p:txBody>
          <a:bodyPr wrap="square" rtlCol="0" anchor="ctr"/>
          <a:lstStyle/>
          <a:p>
            <a:pPr marL="0" indent="0">
              <a:buNone/>
            </a:pPr>
            <a:r>
              <a:rPr lang="en-US" sz="1050" b="1" dirty="0">
                <a:solidFill>
                  <a:srgbClr val="1B1F3B"/>
                </a:solidFill>
                <a:latin typeface="Calibri" pitchFamily="34" charset="0"/>
                <a:ea typeface="Calibri" pitchFamily="34" charset="-122"/>
                <a:cs typeface="Calibri" pitchFamily="34" charset="-120"/>
              </a:rPr>
              <a:t>Tabnine</a:t>
            </a:r>
            <a:endParaRPr lang="en-US" sz="1050" dirty="0"/>
          </a:p>
        </p:txBody>
      </p:sp>
      <p:sp>
        <p:nvSpPr>
          <p:cNvPr id="23" name="Text 21"/>
          <p:cNvSpPr/>
          <p:nvPr/>
        </p:nvSpPr>
        <p:spPr>
          <a:xfrm>
            <a:off x="3291840" y="3986784"/>
            <a:ext cx="3474720" cy="795528"/>
          </a:xfrm>
          <a:prstGeom prst="rect">
            <a:avLst/>
          </a:prstGeom>
          <a:noFill/>
          <a:ln/>
        </p:spPr>
        <p:txBody>
          <a:bodyPr wrap="square" rtlCol="0" anchor="ctr"/>
          <a:lstStyle/>
          <a:p>
            <a:pPr marL="0" indent="0">
              <a:buNone/>
            </a:pPr>
            <a:r>
              <a:rPr lang="en-US" sz="1050" dirty="0">
                <a:solidFill>
                  <a:srgbClr val="5B6270"/>
                </a:solidFill>
                <a:latin typeface="Calibri" pitchFamily="34" charset="0"/>
                <a:ea typeface="Calibri" pitchFamily="34" charset="-122"/>
                <a:cs typeface="Calibri" pitchFamily="34" charset="-120"/>
              </a:rPr>
              <a:t>Modelos propios, con opción on-premise</a:t>
            </a:r>
            <a:endParaRPr lang="en-US" sz="1050" dirty="0"/>
          </a:p>
        </p:txBody>
      </p:sp>
      <p:sp>
        <p:nvSpPr>
          <p:cNvPr id="24" name="Text 22"/>
          <p:cNvSpPr/>
          <p:nvPr/>
        </p:nvSpPr>
        <p:spPr>
          <a:xfrm>
            <a:off x="6949440" y="3986784"/>
            <a:ext cx="2377440" cy="795528"/>
          </a:xfrm>
          <a:prstGeom prst="rect">
            <a:avLst/>
          </a:prstGeom>
          <a:noFill/>
          <a:ln/>
        </p:spPr>
        <p:txBody>
          <a:bodyPr wrap="square" rtlCol="0" anchor="ctr"/>
          <a:lstStyle/>
          <a:p>
            <a:pPr marL="0" indent="0">
              <a:buNone/>
            </a:pPr>
            <a:r>
              <a:rPr lang="en-US" sz="1050" dirty="0">
                <a:solidFill>
                  <a:srgbClr val="5B6270"/>
                </a:solidFill>
                <a:latin typeface="Calibri" pitchFamily="34" charset="0"/>
                <a:ea typeface="Calibri" pitchFamily="34" charset="-122"/>
                <a:cs typeface="Calibri" pitchFamily="34" charset="-120"/>
              </a:rPr>
              <a:t>Múltiples IDE, incl. Visual Studio</a:t>
            </a:r>
            <a:endParaRPr lang="en-US" sz="1050" dirty="0"/>
          </a:p>
        </p:txBody>
      </p:sp>
      <p:sp>
        <p:nvSpPr>
          <p:cNvPr id="25" name="Text 23"/>
          <p:cNvSpPr/>
          <p:nvPr/>
        </p:nvSpPr>
        <p:spPr>
          <a:xfrm>
            <a:off x="9509760" y="3986784"/>
            <a:ext cx="2103120" cy="795528"/>
          </a:xfrm>
          <a:prstGeom prst="rect">
            <a:avLst/>
          </a:prstGeom>
          <a:noFill/>
          <a:ln/>
        </p:spPr>
        <p:txBody>
          <a:bodyPr wrap="square" rtlCol="0" anchor="ctr"/>
          <a:lstStyle/>
          <a:p>
            <a:pPr marL="0" indent="0">
              <a:buNone/>
            </a:pPr>
            <a:r>
              <a:rPr lang="en-US" sz="1050" dirty="0">
                <a:solidFill>
                  <a:srgbClr val="5B6270"/>
                </a:solidFill>
                <a:latin typeface="Calibri" pitchFamily="34" charset="0"/>
                <a:ea typeface="Calibri" pitchFamily="34" charset="-122"/>
                <a:cs typeface="Calibri" pitchFamily="34" charset="-120"/>
              </a:rPr>
              <a:t>Mayor control de privacidad de datos</a:t>
            </a:r>
            <a:endParaRPr lang="en-US" sz="1050" dirty="0"/>
          </a:p>
        </p:txBody>
      </p:sp>
      <p:sp>
        <p:nvSpPr>
          <p:cNvPr id="26" name="Shape 24"/>
          <p:cNvSpPr/>
          <p:nvPr/>
        </p:nvSpPr>
        <p:spPr>
          <a:xfrm>
            <a:off x="548640" y="4782312"/>
            <a:ext cx="11109960" cy="795528"/>
          </a:xfrm>
          <a:prstGeom prst="rect">
            <a:avLst/>
          </a:prstGeom>
          <a:solidFill>
            <a:srgbClr val="E7F3F2"/>
          </a:solidFill>
          <a:ln/>
        </p:spPr>
        <p:txBody>
          <a:bodyPr/>
          <a:lstStyle/>
          <a:p>
            <a:endParaRPr lang="es-SV"/>
          </a:p>
        </p:txBody>
      </p:sp>
      <p:sp>
        <p:nvSpPr>
          <p:cNvPr id="27" name="Text 25"/>
          <p:cNvSpPr/>
          <p:nvPr/>
        </p:nvSpPr>
        <p:spPr>
          <a:xfrm>
            <a:off x="594360" y="4782312"/>
            <a:ext cx="2514600" cy="795528"/>
          </a:xfrm>
          <a:prstGeom prst="rect">
            <a:avLst/>
          </a:prstGeom>
          <a:noFill/>
          <a:ln/>
        </p:spPr>
        <p:txBody>
          <a:bodyPr wrap="square" rtlCol="0" anchor="ctr"/>
          <a:lstStyle/>
          <a:p>
            <a:pPr marL="0" indent="0">
              <a:buNone/>
            </a:pPr>
            <a:r>
              <a:rPr lang="en-US" sz="1050" b="1" dirty="0">
                <a:solidFill>
                  <a:srgbClr val="1B1F3B"/>
                </a:solidFill>
                <a:latin typeface="Calibri" pitchFamily="34" charset="0"/>
                <a:ea typeface="Calibri" pitchFamily="34" charset="-122"/>
                <a:cs typeface="Calibri" pitchFamily="34" charset="-120"/>
              </a:rPr>
              <a:t>JetBrains AI Assistant</a:t>
            </a:r>
            <a:endParaRPr lang="en-US" sz="1050" dirty="0"/>
          </a:p>
        </p:txBody>
      </p:sp>
      <p:sp>
        <p:nvSpPr>
          <p:cNvPr id="28" name="Text 26"/>
          <p:cNvSpPr/>
          <p:nvPr/>
        </p:nvSpPr>
        <p:spPr>
          <a:xfrm>
            <a:off x="3291840" y="4782312"/>
            <a:ext cx="3474720" cy="795528"/>
          </a:xfrm>
          <a:prstGeom prst="rect">
            <a:avLst/>
          </a:prstGeom>
          <a:noFill/>
          <a:ln/>
        </p:spPr>
        <p:txBody>
          <a:bodyPr wrap="square" rtlCol="0" anchor="ctr"/>
          <a:lstStyle/>
          <a:p>
            <a:pPr marL="0" indent="0">
              <a:buNone/>
            </a:pPr>
            <a:r>
              <a:rPr lang="en-US" sz="1050" dirty="0">
                <a:solidFill>
                  <a:srgbClr val="5B6270"/>
                </a:solidFill>
                <a:latin typeface="Calibri" pitchFamily="34" charset="0"/>
                <a:ea typeface="Calibri" pitchFamily="34" charset="-122"/>
                <a:cs typeface="Calibri" pitchFamily="34" charset="-120"/>
              </a:rPr>
              <a:t>Modelos propios + terceros</a:t>
            </a:r>
            <a:endParaRPr lang="en-US" sz="1050" dirty="0"/>
          </a:p>
        </p:txBody>
      </p:sp>
      <p:sp>
        <p:nvSpPr>
          <p:cNvPr id="29" name="Text 27"/>
          <p:cNvSpPr/>
          <p:nvPr/>
        </p:nvSpPr>
        <p:spPr>
          <a:xfrm>
            <a:off x="6949440" y="4782312"/>
            <a:ext cx="2377440" cy="795528"/>
          </a:xfrm>
          <a:prstGeom prst="rect">
            <a:avLst/>
          </a:prstGeom>
          <a:noFill/>
          <a:ln/>
        </p:spPr>
        <p:txBody>
          <a:bodyPr wrap="square" rtlCol="0" anchor="ctr"/>
          <a:lstStyle/>
          <a:p>
            <a:pPr marL="0" indent="0">
              <a:buNone/>
            </a:pPr>
            <a:r>
              <a:rPr lang="en-US" sz="1050" dirty="0">
                <a:solidFill>
                  <a:srgbClr val="5B6270"/>
                </a:solidFill>
                <a:latin typeface="Calibri" pitchFamily="34" charset="0"/>
                <a:ea typeface="Calibri" pitchFamily="34" charset="-122"/>
                <a:cs typeface="Calibri" pitchFamily="34" charset="-120"/>
              </a:rPr>
              <a:t>IDEs de JetBrains (Rider, etc.)</a:t>
            </a:r>
            <a:endParaRPr lang="en-US" sz="1050" dirty="0"/>
          </a:p>
        </p:txBody>
      </p:sp>
      <p:sp>
        <p:nvSpPr>
          <p:cNvPr id="30" name="Text 28"/>
          <p:cNvSpPr/>
          <p:nvPr/>
        </p:nvSpPr>
        <p:spPr>
          <a:xfrm>
            <a:off x="9509760" y="4782312"/>
            <a:ext cx="2103120" cy="795528"/>
          </a:xfrm>
          <a:prstGeom prst="rect">
            <a:avLst/>
          </a:prstGeom>
          <a:noFill/>
          <a:ln/>
        </p:spPr>
        <p:txBody>
          <a:bodyPr wrap="square" rtlCol="0" anchor="ctr"/>
          <a:lstStyle/>
          <a:p>
            <a:pPr marL="0" indent="0">
              <a:buNone/>
            </a:pPr>
            <a:r>
              <a:rPr lang="en-US" sz="1050" dirty="0">
                <a:solidFill>
                  <a:srgbClr val="5B6270"/>
                </a:solidFill>
                <a:latin typeface="Calibri" pitchFamily="34" charset="0"/>
                <a:ea typeface="Calibri" pitchFamily="34" charset="-122"/>
                <a:cs typeface="Calibri" pitchFamily="34" charset="-120"/>
              </a:rPr>
              <a:t>Integración profunda con refactorizaciones</a:t>
            </a:r>
            <a:endParaRPr lang="en-US" sz="1050" dirty="0"/>
          </a:p>
        </p:txBody>
      </p:sp>
      <p:sp>
        <p:nvSpPr>
          <p:cNvPr id="31" name="Text 29"/>
          <p:cNvSpPr/>
          <p:nvPr/>
        </p:nvSpPr>
        <p:spPr>
          <a:xfrm>
            <a:off x="457200" y="6537960"/>
            <a:ext cx="4572000" cy="274320"/>
          </a:xfrm>
          <a:prstGeom prst="rect">
            <a:avLst/>
          </a:prstGeom>
          <a:noFill/>
          <a:ln/>
        </p:spPr>
        <p:txBody>
          <a:bodyPr wrap="square" rtlCol="0" anchor="ctr"/>
          <a:lstStyle/>
          <a:p>
            <a:pPr marL="0" indent="0">
              <a:buNone/>
            </a:pPr>
            <a:r>
              <a:rPr lang="en-US" sz="900" dirty="0">
                <a:solidFill>
                  <a:srgbClr val="5B6270"/>
                </a:solidFill>
                <a:latin typeface="Calibri" pitchFamily="34" charset="0"/>
                <a:ea typeface="Calibri" pitchFamily="34" charset="-122"/>
                <a:cs typeface="Calibri" pitchFamily="34" charset="-120"/>
              </a:rPr>
              <a:t>GR241968  |  DSP404</a:t>
            </a:r>
            <a:endParaRPr lang="en-US" sz="900" dirty="0"/>
          </a:p>
        </p:txBody>
      </p:sp>
      <p:sp>
        <p:nvSpPr>
          <p:cNvPr id="32" name="Text 30"/>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2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marL="0" indent="0">
              <a:buNone/>
            </a:pPr>
            <a:r>
              <a:rPr lang="en-US" sz="2600" b="1" dirty="0">
                <a:solidFill>
                  <a:srgbClr val="1B1F3B"/>
                </a:solidFill>
                <a:latin typeface="Cambria" pitchFamily="34" charset="0"/>
                <a:ea typeface="Cambria" pitchFamily="34" charset="-122"/>
                <a:cs typeface="Cambria" pitchFamily="34" charset="-120"/>
              </a:rPr>
              <a:t>7. Requerimientos de hardware y software</a:t>
            </a:r>
            <a:endParaRPr lang="en-US" sz="2600" dirty="0"/>
          </a:p>
        </p:txBody>
      </p:sp>
      <p:sp>
        <p:nvSpPr>
          <p:cNvPr id="3" name="Shape 1"/>
          <p:cNvSpPr/>
          <p:nvPr/>
        </p:nvSpPr>
        <p:spPr>
          <a:xfrm>
            <a:off x="548640" y="1280160"/>
            <a:ext cx="5394960" cy="4937760"/>
          </a:xfrm>
          <a:prstGeom prst="roundRect">
            <a:avLst>
              <a:gd name="adj" fmla="val 1481"/>
            </a:avLst>
          </a:prstGeom>
          <a:solidFill>
            <a:srgbClr val="E7F3F2"/>
          </a:solidFill>
          <a:ln/>
        </p:spPr>
        <p:txBody>
          <a:bodyPr/>
          <a:lstStyle/>
          <a:p>
            <a:endParaRPr lang="es-SV"/>
          </a:p>
        </p:txBody>
      </p:sp>
      <p:sp>
        <p:nvSpPr>
          <p:cNvPr id="4" name="Text 2"/>
          <p:cNvSpPr/>
          <p:nvPr/>
        </p:nvSpPr>
        <p:spPr>
          <a:xfrm>
            <a:off x="822960" y="1463040"/>
            <a:ext cx="4846320" cy="365760"/>
          </a:xfrm>
          <a:prstGeom prst="rect">
            <a:avLst/>
          </a:prstGeom>
          <a:noFill/>
          <a:ln/>
        </p:spPr>
        <p:txBody>
          <a:bodyPr wrap="square" rtlCol="0" anchor="ctr"/>
          <a:lstStyle/>
          <a:p>
            <a:pPr marL="0" indent="0">
              <a:buNone/>
            </a:pPr>
            <a:r>
              <a:rPr lang="en-US" sz="1500" b="1" dirty="0">
                <a:solidFill>
                  <a:srgbClr val="3AAFA9"/>
                </a:solidFill>
                <a:latin typeface="Calibri" pitchFamily="34" charset="0"/>
                <a:ea typeface="Calibri" pitchFamily="34" charset="-122"/>
                <a:cs typeface="Calibri" pitchFamily="34" charset="-120"/>
              </a:rPr>
              <a:t>Software necesario</a:t>
            </a:r>
            <a:endParaRPr lang="en-US" sz="1500" dirty="0"/>
          </a:p>
        </p:txBody>
      </p:sp>
      <p:sp>
        <p:nvSpPr>
          <p:cNvPr id="5" name="Text 3"/>
          <p:cNvSpPr/>
          <p:nvPr/>
        </p:nvSpPr>
        <p:spPr>
          <a:xfrm>
            <a:off x="822960" y="1920240"/>
            <a:ext cx="4846320" cy="2926080"/>
          </a:xfrm>
          <a:prstGeom prst="rect">
            <a:avLst/>
          </a:prstGeom>
          <a:noFill/>
          <a:ln/>
        </p:spPr>
        <p:txBody>
          <a:bodyPr wrap="square" rtlCol="0" anchor="ctr"/>
          <a:lstStyle/>
          <a:p>
            <a:pPr marL="342900" indent="-342900">
              <a:lnSpc>
                <a:spcPct val="130000"/>
              </a:lnSpc>
              <a:spcAft>
                <a:spcPts val="1000"/>
              </a:spcAft>
              <a:buSzPct val="100000"/>
              <a:buChar char="•"/>
            </a:pPr>
            <a:r>
              <a:rPr lang="en-US" sz="1250" dirty="0">
                <a:solidFill>
                  <a:srgbClr val="5B6270"/>
                </a:solidFill>
                <a:latin typeface="Calibri" pitchFamily="34" charset="0"/>
                <a:ea typeface="Calibri" pitchFamily="34" charset="-122"/>
                <a:cs typeface="Calibri" pitchFamily="34" charset="-120"/>
              </a:rPr>
              <a:t>Visual Studio 2022 (o Visual Studio Code) con la extensión de GitHub Copilot instalada.</a:t>
            </a:r>
            <a:endParaRPr lang="en-US" sz="1250" dirty="0"/>
          </a:p>
          <a:p>
            <a:pPr marL="342900" indent="-342900">
              <a:lnSpc>
                <a:spcPct val="130000"/>
              </a:lnSpc>
              <a:spcAft>
                <a:spcPts val="1000"/>
              </a:spcAft>
              <a:buSzPct val="100000"/>
              <a:buChar char="•"/>
            </a:pPr>
            <a:r>
              <a:rPr lang="en-US" sz="1250" dirty="0">
                <a:solidFill>
                  <a:srgbClr val="5B6270"/>
                </a:solidFill>
                <a:latin typeface="Calibri" pitchFamily="34" charset="0"/>
                <a:ea typeface="Calibri" pitchFamily="34" charset="-122"/>
                <a:cs typeface="Calibri" pitchFamily="34" charset="-120"/>
              </a:rPr>
              <a:t>.NET SDK compatible con el proyecto (en este curso, .NET Framework 4.8).</a:t>
            </a:r>
            <a:endParaRPr lang="en-US" sz="1250" dirty="0"/>
          </a:p>
          <a:p>
            <a:pPr marL="342900" indent="-342900">
              <a:lnSpc>
                <a:spcPct val="130000"/>
              </a:lnSpc>
              <a:spcAft>
                <a:spcPts val="1000"/>
              </a:spcAft>
              <a:buSzPct val="100000"/>
              <a:buChar char="•"/>
            </a:pPr>
            <a:r>
              <a:rPr lang="en-US" sz="1250" dirty="0">
                <a:solidFill>
                  <a:srgbClr val="5B6270"/>
                </a:solidFill>
                <a:latin typeface="Calibri" pitchFamily="34" charset="0"/>
                <a:ea typeface="Calibri" pitchFamily="34" charset="-122"/>
                <a:cs typeface="Calibri" pitchFamily="34" charset="-120"/>
              </a:rPr>
              <a:t>Suscripción activa a GitHub Copilot (individual, empresarial o educativa).</a:t>
            </a:r>
            <a:endParaRPr lang="en-US" sz="1250" dirty="0"/>
          </a:p>
          <a:p>
            <a:pPr marL="342900" indent="-342900">
              <a:lnSpc>
                <a:spcPct val="130000"/>
              </a:lnSpc>
              <a:spcAft>
                <a:spcPts val="1000"/>
              </a:spcAft>
              <a:buSzPct val="100000"/>
              <a:buChar char="•"/>
            </a:pPr>
            <a:r>
              <a:rPr lang="en-US" sz="1250" dirty="0">
                <a:solidFill>
                  <a:srgbClr val="5B6270"/>
                </a:solidFill>
                <a:latin typeface="Calibri" pitchFamily="34" charset="0"/>
                <a:ea typeface="Calibri" pitchFamily="34" charset="-122"/>
                <a:cs typeface="Calibri" pitchFamily="34" charset="-120"/>
              </a:rPr>
              <a:t>Conexión a internet estable, ya que las sugerencias se generan mediante llamadas a un servicio en la nube.</a:t>
            </a:r>
            <a:endParaRPr lang="en-US" sz="1250" dirty="0"/>
          </a:p>
        </p:txBody>
      </p:sp>
      <p:sp>
        <p:nvSpPr>
          <p:cNvPr id="6" name="Shape 4"/>
          <p:cNvSpPr/>
          <p:nvPr/>
        </p:nvSpPr>
        <p:spPr>
          <a:xfrm>
            <a:off x="6263640" y="1280160"/>
            <a:ext cx="5394960" cy="4937760"/>
          </a:xfrm>
          <a:prstGeom prst="roundRect">
            <a:avLst>
              <a:gd name="adj" fmla="val 1481"/>
            </a:avLst>
          </a:prstGeom>
          <a:solidFill>
            <a:srgbClr val="1B1F3B"/>
          </a:solidFill>
          <a:ln/>
        </p:spPr>
        <p:txBody>
          <a:bodyPr/>
          <a:lstStyle/>
          <a:p>
            <a:endParaRPr lang="es-SV"/>
          </a:p>
        </p:txBody>
      </p:sp>
      <p:sp>
        <p:nvSpPr>
          <p:cNvPr id="7" name="Text 5"/>
          <p:cNvSpPr/>
          <p:nvPr/>
        </p:nvSpPr>
        <p:spPr>
          <a:xfrm>
            <a:off x="6537960" y="1463040"/>
            <a:ext cx="4846320" cy="365760"/>
          </a:xfrm>
          <a:prstGeom prst="rect">
            <a:avLst/>
          </a:prstGeom>
          <a:noFill/>
          <a:ln/>
        </p:spPr>
        <p:txBody>
          <a:bodyPr wrap="square" rtlCol="0" anchor="ctr"/>
          <a:lstStyle/>
          <a:p>
            <a:pPr marL="0" indent="0">
              <a:buNone/>
            </a:pPr>
            <a:r>
              <a:rPr lang="en-US" sz="1500" b="1" dirty="0">
                <a:solidFill>
                  <a:srgbClr val="FFC857"/>
                </a:solidFill>
                <a:latin typeface="Calibri" pitchFamily="34" charset="0"/>
                <a:ea typeface="Calibri" pitchFamily="34" charset="-122"/>
                <a:cs typeface="Calibri" pitchFamily="34" charset="-120"/>
              </a:rPr>
              <a:t>Rendimiento y consumo de recursos</a:t>
            </a:r>
            <a:endParaRPr lang="en-US" sz="1500" dirty="0"/>
          </a:p>
        </p:txBody>
      </p:sp>
      <p:sp>
        <p:nvSpPr>
          <p:cNvPr id="8" name="Text 6"/>
          <p:cNvSpPr/>
          <p:nvPr/>
        </p:nvSpPr>
        <p:spPr>
          <a:xfrm>
            <a:off x="6537960" y="1920240"/>
            <a:ext cx="4846320" cy="2926080"/>
          </a:xfrm>
          <a:prstGeom prst="rect">
            <a:avLst/>
          </a:prstGeom>
          <a:noFill/>
          <a:ln/>
        </p:spPr>
        <p:txBody>
          <a:bodyPr wrap="square" rtlCol="0" anchor="ctr"/>
          <a:lstStyle/>
          <a:p>
            <a:pPr marL="342900" indent="-342900">
              <a:lnSpc>
                <a:spcPct val="130000"/>
              </a:lnSpc>
              <a:spcAft>
                <a:spcPts val="1000"/>
              </a:spcAft>
              <a:buSzPct val="100000"/>
              <a:buChar char="•"/>
            </a:pPr>
            <a:r>
              <a:rPr lang="en-US" sz="1250" dirty="0">
                <a:solidFill>
                  <a:srgbClr val="E7F3F2"/>
                </a:solidFill>
                <a:latin typeface="Calibri" pitchFamily="34" charset="0"/>
                <a:ea typeface="Calibri" pitchFamily="34" charset="-122"/>
                <a:cs typeface="Calibri" pitchFamily="34" charset="-120"/>
              </a:rPr>
              <a:t>El procesamiento de las sugerencias ocurre en los servidores del proveedor; el equipo local solo necesita ejecutar el IDE con fluidez.</a:t>
            </a:r>
            <a:endParaRPr lang="en-US" sz="1250" dirty="0"/>
          </a:p>
          <a:p>
            <a:pPr marL="342900" indent="-342900">
              <a:lnSpc>
                <a:spcPct val="130000"/>
              </a:lnSpc>
              <a:spcAft>
                <a:spcPts val="1000"/>
              </a:spcAft>
              <a:buSzPct val="100000"/>
              <a:buChar char="•"/>
            </a:pPr>
            <a:r>
              <a:rPr lang="en-US" sz="1250" dirty="0">
                <a:solidFill>
                  <a:srgbClr val="E7F3F2"/>
                </a:solidFill>
                <a:latin typeface="Calibri" pitchFamily="34" charset="0"/>
                <a:ea typeface="Calibri" pitchFamily="34" charset="-122"/>
                <a:cs typeface="Calibri" pitchFamily="34" charset="-120"/>
              </a:rPr>
              <a:t>Equipos con más RAM y un SSD reducen el tiempo de indexado del proyecto, lo que agiliza la respuesta percibida de Copilot dentro del editor.</a:t>
            </a:r>
            <a:endParaRPr lang="en-US" sz="1250" dirty="0"/>
          </a:p>
          <a:p>
            <a:pPr marL="342900" indent="-342900">
              <a:lnSpc>
                <a:spcPct val="130000"/>
              </a:lnSpc>
              <a:spcAft>
                <a:spcPts val="1000"/>
              </a:spcAft>
              <a:buSzPct val="100000"/>
              <a:buChar char="•"/>
            </a:pPr>
            <a:r>
              <a:rPr lang="en-US" sz="1250" dirty="0">
                <a:solidFill>
                  <a:srgbClr val="E7F3F2"/>
                </a:solidFill>
                <a:latin typeface="Calibri" pitchFamily="34" charset="0"/>
                <a:ea typeface="Calibri" pitchFamily="34" charset="-122"/>
                <a:cs typeface="Calibri" pitchFamily="34" charset="-120"/>
              </a:rPr>
              <a:t>En proyectos grandes, la latencia de red puede influir más en la experiencia que la potencia del hardware local.</a:t>
            </a:r>
            <a:endParaRPr lang="en-US" sz="1250" dirty="0"/>
          </a:p>
        </p:txBody>
      </p:sp>
      <p:sp>
        <p:nvSpPr>
          <p:cNvPr id="9" name="Text 7"/>
          <p:cNvSpPr/>
          <p:nvPr/>
        </p:nvSpPr>
        <p:spPr>
          <a:xfrm>
            <a:off x="457200" y="6537960"/>
            <a:ext cx="4572000" cy="274320"/>
          </a:xfrm>
          <a:prstGeom prst="rect">
            <a:avLst/>
          </a:prstGeom>
          <a:noFill/>
          <a:ln/>
        </p:spPr>
        <p:txBody>
          <a:bodyPr wrap="square" rtlCol="0" anchor="ctr"/>
          <a:lstStyle/>
          <a:p>
            <a:pPr marL="0" indent="0">
              <a:buNone/>
            </a:pPr>
            <a:r>
              <a:rPr lang="en-US" sz="900" dirty="0">
                <a:solidFill>
                  <a:srgbClr val="5B6270"/>
                </a:solidFill>
                <a:latin typeface="Calibri" pitchFamily="34" charset="0"/>
                <a:ea typeface="Calibri" pitchFamily="34" charset="-122"/>
                <a:cs typeface="Calibri" pitchFamily="34" charset="-120"/>
              </a:rPr>
              <a:t>GR241968  |  DSP404</a:t>
            </a:r>
            <a:endParaRPr lang="en-US" sz="900" dirty="0"/>
          </a:p>
        </p:txBody>
      </p:sp>
      <p:sp>
        <p:nvSpPr>
          <p:cNvPr id="10" name="Text 8"/>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2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F3B"/>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50292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Conclusión</a:t>
            </a:r>
            <a:endParaRPr lang="en-US" sz="2800" dirty="0"/>
          </a:p>
        </p:txBody>
      </p:sp>
      <p:sp>
        <p:nvSpPr>
          <p:cNvPr id="3" name="Text 1"/>
          <p:cNvSpPr/>
          <p:nvPr/>
        </p:nvSpPr>
        <p:spPr>
          <a:xfrm>
            <a:off x="548640" y="1051560"/>
            <a:ext cx="11064240" cy="822960"/>
          </a:xfrm>
          <a:prstGeom prst="rect">
            <a:avLst/>
          </a:prstGeom>
          <a:noFill/>
          <a:ln/>
        </p:spPr>
        <p:txBody>
          <a:bodyPr wrap="square" rtlCol="0" anchor="ctr"/>
          <a:lstStyle/>
          <a:p>
            <a:pPr marL="0" indent="0">
              <a:lnSpc>
                <a:spcPct val="125000"/>
              </a:lnSpc>
              <a:buNone/>
            </a:pPr>
            <a:r>
              <a:rPr lang="en-US" sz="1350" dirty="0">
                <a:solidFill>
                  <a:srgbClr val="E7F3F2"/>
                </a:solidFill>
                <a:latin typeface="Calibri" pitchFamily="34" charset="0"/>
                <a:ea typeface="Calibri" pitchFamily="34" charset="-122"/>
                <a:cs typeface="Calibri" pitchFamily="34" charset="-120"/>
              </a:rPr>
              <a:t>GitHub Copilot puede acelerar tareas repetitivas y servir como punto de partida para resolver problemas en C#, pero su valor real depende del criterio del desarrollador para validar, corregir y comprender el código que sugiere.</a:t>
            </a:r>
            <a:endParaRPr lang="en-US" sz="1350" dirty="0"/>
          </a:p>
        </p:txBody>
      </p:sp>
      <p:sp>
        <p:nvSpPr>
          <p:cNvPr id="4" name="Shape 2"/>
          <p:cNvSpPr/>
          <p:nvPr/>
        </p:nvSpPr>
        <p:spPr>
          <a:xfrm>
            <a:off x="548640" y="2011680"/>
            <a:ext cx="11064240" cy="0"/>
          </a:xfrm>
          <a:prstGeom prst="line">
            <a:avLst/>
          </a:prstGeom>
          <a:noFill/>
          <a:ln w="12700">
            <a:solidFill>
              <a:srgbClr val="3AAFA9"/>
            </a:solidFill>
            <a:prstDash val="solid"/>
          </a:ln>
        </p:spPr>
        <p:txBody>
          <a:bodyPr/>
          <a:lstStyle/>
          <a:p>
            <a:endParaRPr lang="es-SV"/>
          </a:p>
        </p:txBody>
      </p:sp>
      <p:sp>
        <p:nvSpPr>
          <p:cNvPr id="5" name="Text 3"/>
          <p:cNvSpPr/>
          <p:nvPr/>
        </p:nvSpPr>
        <p:spPr>
          <a:xfrm>
            <a:off x="548640" y="2194560"/>
            <a:ext cx="5486400" cy="365760"/>
          </a:xfrm>
          <a:prstGeom prst="rect">
            <a:avLst/>
          </a:prstGeom>
          <a:noFill/>
          <a:ln/>
        </p:spPr>
        <p:txBody>
          <a:bodyPr wrap="square" rtlCol="0" anchor="ctr"/>
          <a:lstStyle/>
          <a:p>
            <a:pPr marL="0" indent="0">
              <a:buNone/>
            </a:pPr>
            <a:r>
              <a:rPr lang="en-US" sz="1400" b="1" dirty="0">
                <a:solidFill>
                  <a:srgbClr val="FFC857"/>
                </a:solidFill>
                <a:latin typeface="Calibri" pitchFamily="34" charset="0"/>
                <a:ea typeface="Calibri" pitchFamily="34" charset="-122"/>
                <a:cs typeface="Calibri" pitchFamily="34" charset="-120"/>
              </a:rPr>
              <a:t>Bibliografía (formato IEEE)</a:t>
            </a:r>
            <a:endParaRPr lang="en-US" sz="1400" dirty="0"/>
          </a:p>
        </p:txBody>
      </p:sp>
      <p:sp>
        <p:nvSpPr>
          <p:cNvPr id="6" name="Text 4"/>
          <p:cNvSpPr/>
          <p:nvPr/>
        </p:nvSpPr>
        <p:spPr>
          <a:xfrm>
            <a:off x="548640" y="2606040"/>
            <a:ext cx="11064240" cy="3931920"/>
          </a:xfrm>
          <a:prstGeom prst="rect">
            <a:avLst/>
          </a:prstGeom>
          <a:noFill/>
          <a:ln/>
        </p:spPr>
        <p:txBody>
          <a:bodyPr wrap="square" rtlCol="0" anchor="t"/>
          <a:lstStyle/>
          <a:p>
            <a:pPr marL="0" indent="0">
              <a:lnSpc>
                <a:spcPct val="120000"/>
              </a:lnSpc>
              <a:spcAft>
                <a:spcPts val="600"/>
              </a:spcAft>
              <a:buNone/>
            </a:pPr>
            <a:r>
              <a:rPr lang="en-US" sz="950" dirty="0">
                <a:solidFill>
                  <a:srgbClr val="E7F3F2"/>
                </a:solidFill>
                <a:latin typeface="Calibri" pitchFamily="34" charset="0"/>
                <a:ea typeface="Calibri" pitchFamily="34" charset="-122"/>
                <a:cs typeface="Calibri" pitchFamily="34" charset="-120"/>
              </a:rPr>
              <a:t>[1] A. M. Dakhel, V. Majdinasab, A. Nikanjam, F. Khomh, M. C. Desmarais, and Z. M. Jiang, "GitHub Copilot AI pair programmer: Asset or liability?," arXiv preprint arXiv:2206.15331, 2023.</a:t>
            </a:r>
            <a:endParaRPr lang="en-US" sz="950" dirty="0"/>
          </a:p>
          <a:p>
            <a:pPr marL="0" indent="0">
              <a:lnSpc>
                <a:spcPct val="120000"/>
              </a:lnSpc>
              <a:spcAft>
                <a:spcPts val="600"/>
              </a:spcAft>
              <a:buNone/>
            </a:pPr>
            <a:r>
              <a:rPr lang="en-US" sz="950" dirty="0">
                <a:solidFill>
                  <a:srgbClr val="E7F3F2"/>
                </a:solidFill>
                <a:latin typeface="Calibri" pitchFamily="34" charset="0"/>
                <a:ea typeface="Calibri" pitchFamily="34" charset="-122"/>
                <a:cs typeface="Calibri" pitchFamily="34" charset="-120"/>
              </a:rPr>
              <a:t>[2] H. Pearce, B. Ahmad, B. Tan, B. Dolan-Gavitt, and R. Karri, "Asleep at the keyboard? Assessing the security of GitHub Copilot's code contributions," in Proc. 2022 IEEE Symp. Security and Privacy (SP), Los Alamitos, CA, USA, 2022, pp. 980-994.</a:t>
            </a:r>
            <a:endParaRPr lang="en-US" sz="950" dirty="0"/>
          </a:p>
          <a:p>
            <a:pPr marL="0" indent="0">
              <a:lnSpc>
                <a:spcPct val="120000"/>
              </a:lnSpc>
              <a:spcAft>
                <a:spcPts val="600"/>
              </a:spcAft>
              <a:buNone/>
            </a:pPr>
            <a:r>
              <a:rPr lang="en-US" sz="950" dirty="0">
                <a:solidFill>
                  <a:srgbClr val="E7F3F2"/>
                </a:solidFill>
                <a:latin typeface="Calibri" pitchFamily="34" charset="0"/>
                <a:ea typeface="Calibri" pitchFamily="34" charset="-122"/>
                <a:cs typeface="Calibri" pitchFamily="34" charset="-120"/>
              </a:rPr>
              <a:t>[3] N. Nguyen and S. Nadi, "An empirical evaluation of GitHub Copilot's code suggestions," in Proc. 19th ACM Int. Conf. Mining Software Repositories (MSR), 2022, pp. 1-5.</a:t>
            </a:r>
            <a:endParaRPr lang="en-US" sz="950" dirty="0"/>
          </a:p>
          <a:p>
            <a:pPr marL="0" indent="0">
              <a:lnSpc>
                <a:spcPct val="120000"/>
              </a:lnSpc>
              <a:spcAft>
                <a:spcPts val="600"/>
              </a:spcAft>
              <a:buNone/>
            </a:pPr>
            <a:r>
              <a:rPr lang="en-US" sz="950" dirty="0">
                <a:solidFill>
                  <a:srgbClr val="E7F3F2"/>
                </a:solidFill>
                <a:latin typeface="Calibri" pitchFamily="34" charset="0"/>
                <a:ea typeface="Calibri" pitchFamily="34" charset="-122"/>
                <a:cs typeface="Calibri" pitchFamily="34" charset="-120"/>
              </a:rPr>
              <a:t>[4] L. Oliveira and C. Oliveira, "O uso do assistente de programação baseado em Inteligência Artificial, o GitHub Copilot, na Qualidade de Software: Uma revisão sistemática de literatura," Research, Society and Development, vol. 15, no. 4, e8615450966, 2026.</a:t>
            </a:r>
            <a:endParaRPr lang="en-US" sz="950" dirty="0"/>
          </a:p>
          <a:p>
            <a:pPr marL="0" indent="0">
              <a:lnSpc>
                <a:spcPct val="120000"/>
              </a:lnSpc>
              <a:spcAft>
                <a:spcPts val="600"/>
              </a:spcAft>
              <a:buNone/>
            </a:pPr>
            <a:r>
              <a:rPr lang="en-US" sz="950" dirty="0">
                <a:solidFill>
                  <a:srgbClr val="E7F3F2"/>
                </a:solidFill>
                <a:latin typeface="Calibri" pitchFamily="34" charset="0"/>
                <a:ea typeface="Calibri" pitchFamily="34" charset="-122"/>
                <a:cs typeface="Calibri" pitchFamily="34" charset="-120"/>
              </a:rPr>
              <a:t>[5] J. H. Larios Alvarenga, I. B. López Artiga, and J. M. García Pérez, "Diseño y desarrollo de prototipo de aplicación de reclutamiento de talento humano... con asistencia de inteligencia artificial," Trabajo de graduación, Maestría en Arquitectura de Software, Univ. Don Bosco, Antiguo Cuscatlán, El Salvador, 2024.</a:t>
            </a:r>
            <a:endParaRPr lang="en-US" sz="950" dirty="0"/>
          </a:p>
          <a:p>
            <a:pPr marL="0" indent="0">
              <a:lnSpc>
                <a:spcPct val="120000"/>
              </a:lnSpc>
              <a:spcAft>
                <a:spcPts val="600"/>
              </a:spcAft>
              <a:buNone/>
            </a:pPr>
            <a:r>
              <a:rPr lang="en-US" sz="950" dirty="0">
                <a:solidFill>
                  <a:srgbClr val="E7F3F2"/>
                </a:solidFill>
                <a:latin typeface="Calibri" pitchFamily="34" charset="0"/>
                <a:ea typeface="Calibri" pitchFamily="34" charset="-122"/>
                <a:cs typeface="Calibri" pitchFamily="34" charset="-120"/>
              </a:rPr>
              <a:t>[6] GitHub, "GitHub Copilot: tu programador de pareja de IA," GitHub, 2024. [En línea]. Disponible: https://github.com/features/copilot</a:t>
            </a:r>
            <a:endParaRPr lang="en-US" sz="950" dirty="0"/>
          </a:p>
        </p:txBody>
      </p:sp>
      <p:sp>
        <p:nvSpPr>
          <p:cNvPr id="7" name="Text 5"/>
          <p:cNvSpPr/>
          <p:nvPr/>
        </p:nvSpPr>
        <p:spPr>
          <a:xfrm>
            <a:off x="457200" y="6537960"/>
            <a:ext cx="4572000" cy="274320"/>
          </a:xfrm>
          <a:prstGeom prst="rect">
            <a:avLst/>
          </a:prstGeom>
          <a:noFill/>
          <a:ln/>
        </p:spPr>
        <p:txBody>
          <a:bodyPr wrap="square" rtlCol="0" anchor="ctr"/>
          <a:lstStyle/>
          <a:p>
            <a:pPr marL="0" indent="0">
              <a:buNone/>
            </a:pPr>
            <a:r>
              <a:rPr lang="en-US" sz="900" dirty="0">
                <a:solidFill>
                  <a:srgbClr val="E7F3F2"/>
                </a:solidFill>
                <a:latin typeface="Calibri" pitchFamily="34" charset="0"/>
                <a:ea typeface="Calibri" pitchFamily="34" charset="-122"/>
                <a:cs typeface="Calibri" pitchFamily="34" charset="-120"/>
              </a:rPr>
              <a:t>GR241968  |  DSP404</a:t>
            </a:r>
            <a:endParaRPr lang="en-US" sz="900" dirty="0"/>
          </a:p>
        </p:txBody>
      </p:sp>
      <p:sp>
        <p:nvSpPr>
          <p:cNvPr id="8" name="Text 6"/>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E7F3F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1584</Words>
  <Application>Microsoft Office PowerPoint</Application>
  <PresentationFormat>Panorámica</PresentationFormat>
  <Paragraphs>167</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Alessandra Gonzalez</cp:lastModifiedBy>
  <cp:revision>3</cp:revision>
  <dcterms:created xsi:type="dcterms:W3CDTF">2026-08-09T00:28:58Z</dcterms:created>
  <dcterms:modified xsi:type="dcterms:W3CDTF">2026-08-14T00:13:46Z</dcterms:modified>
</cp:coreProperties>
</file>